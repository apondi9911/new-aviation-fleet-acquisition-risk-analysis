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292" r:id="rId5"/>
    <p:sldId id="299" r:id="rId6"/>
    <p:sldId id="297" r:id="rId7"/>
    <p:sldId id="261" r:id="rId8"/>
    <p:sldId id="301" r:id="rId9"/>
    <p:sldId id="302" r:id="rId10"/>
    <p:sldId id="303" r:id="rId11"/>
    <p:sldId id="298" r:id="rId12"/>
    <p:sldId id="304" r:id="rId13"/>
    <p:sldId id="305" r:id="rId14"/>
    <p:sldId id="306" r:id="rId15"/>
    <p:sldId id="279" r:id="rId16"/>
    <p:sldId id="307" r:id="rId17"/>
    <p:sldId id="276" r:id="rId18"/>
    <p:sldId id="293" r:id="rId19"/>
    <p:sldId id="268" r:id="rId20"/>
    <p:sldId id="269" r:id="rId21"/>
    <p:sldId id="300" r:id="rId22"/>
    <p:sldId id="295" r:id="rId23"/>
    <p:sldId id="289"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39" autoAdjust="0"/>
  </p:normalViewPr>
  <p:slideViewPr>
    <p:cSldViewPr snapToGrid="0" showGuides="1">
      <p:cViewPr varScale="1">
        <p:scale>
          <a:sx n="60" d="100"/>
          <a:sy n="60" d="100"/>
        </p:scale>
        <p:origin x="908" y="52"/>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12/14/2025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12/14/2025</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12</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13</a:t>
            </a:fld>
            <a:endParaRPr lang="en-US" altLang="zh-CN" dirty="0"/>
          </a:p>
        </p:txBody>
      </p:sp>
    </p:spTree>
    <p:extLst>
      <p:ext uri="{BB962C8B-B14F-4D97-AF65-F5344CB8AC3E}">
        <p14:creationId xmlns:p14="http://schemas.microsoft.com/office/powerpoint/2010/main" val="1638164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15</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19</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20</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wo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914400" y="731520"/>
            <a:ext cx="4389120" cy="2103120"/>
          </a:xfrm>
        </p:spPr>
        <p:txBody>
          <a:bodyPr anchor="b" anchorCtr="0">
            <a:normAutofit/>
          </a:bodyPr>
          <a:lstStyle>
            <a:lvl1pPr>
              <a:defRPr sz="3600"/>
            </a:lvl1pPr>
          </a:lstStyle>
          <a:p>
            <a:r>
              <a:rPr lang="en-US"/>
              <a:t>Click to edit Master title style</a:t>
            </a:r>
          </a:p>
        </p:txBody>
      </p:sp>
      <p:sp>
        <p:nvSpPr>
          <p:cNvPr id="4" name="Content Placeholder 2">
            <a:extLst>
              <a:ext uri="{FF2B5EF4-FFF2-40B4-BE49-F238E27FC236}">
                <a16:creationId xmlns:a16="http://schemas.microsoft.com/office/drawing/2014/main" id="{C403123E-E3E0-5E2A-E1FB-EC28A2C68EEB}"/>
              </a:ext>
            </a:extLst>
          </p:cNvPr>
          <p:cNvSpPr>
            <a:spLocks noGrp="1"/>
          </p:cNvSpPr>
          <p:nvPr>
            <p:ph idx="14"/>
          </p:nvPr>
        </p:nvSpPr>
        <p:spPr>
          <a:xfrm>
            <a:off x="914400" y="3108960"/>
            <a:ext cx="4389120" cy="192024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9" name="Content Placeholder 2">
            <a:extLst>
              <a:ext uri="{FF2B5EF4-FFF2-40B4-BE49-F238E27FC236}">
                <a16:creationId xmlns:a16="http://schemas.microsoft.com/office/drawing/2014/main" id="{5B0A6B95-C59B-C125-7957-8C41B37891E1}"/>
              </a:ext>
            </a:extLst>
          </p:cNvPr>
          <p:cNvSpPr>
            <a:spLocks noGrp="1"/>
          </p:cNvSpPr>
          <p:nvPr>
            <p:ph idx="1"/>
          </p:nvPr>
        </p:nvSpPr>
        <p:spPr>
          <a:xfrm>
            <a:off x="5852160" y="731520"/>
            <a:ext cx="5367528" cy="52120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Freeform 11">
            <a:extLst>
              <a:ext uri="{FF2B5EF4-FFF2-40B4-BE49-F238E27FC236}">
                <a16:creationId xmlns:a16="http://schemas.microsoft.com/office/drawing/2014/main" id="{18CD2E87-8426-FC12-6665-A6E2F64FEA93}"/>
              </a:ext>
            </a:extLst>
          </p:cNvPr>
          <p:cNvSpPr>
            <a:spLocks noChangeAspect="1"/>
          </p:cNvSpPr>
          <p:nvPr userDrawn="1"/>
        </p:nvSpPr>
        <p:spPr>
          <a:xfrm flipH="1">
            <a:off x="-9525" y="5039331"/>
            <a:ext cx="986377" cy="128016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1">
            <a:extLst>
              <a:ext uri="{FF2B5EF4-FFF2-40B4-BE49-F238E27FC236}">
                <a16:creationId xmlns:a16="http://schemas.microsoft.com/office/drawing/2014/main" id="{D35CF771-1335-6C94-6AA8-AF68EADDDF00}"/>
              </a:ext>
            </a:extLst>
          </p:cNvPr>
          <p:cNvSpPr/>
          <p:nvPr userDrawn="1"/>
        </p:nvSpPr>
        <p:spPr>
          <a:xfrm>
            <a:off x="1140014" y="5142797"/>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bg2">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924390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731520"/>
            <a:ext cx="7671816" cy="2103120"/>
          </a:xfrm>
        </p:spPr>
        <p:txBody>
          <a:bodyPr anchor="b" anchorCtr="0">
            <a:normAutofit/>
          </a:body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F9296AFE-5FB8-52A4-3111-3B53DBE4DB3E}"/>
              </a:ext>
            </a:extLst>
          </p:cNvPr>
          <p:cNvSpPr>
            <a:spLocks noGrp="1"/>
          </p:cNvSpPr>
          <p:nvPr>
            <p:ph idx="14"/>
          </p:nvPr>
        </p:nvSpPr>
        <p:spPr>
          <a:xfrm>
            <a:off x="914400" y="3200400"/>
            <a:ext cx="10149840" cy="28346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Freeform: Shape 12">
            <a:extLst>
              <a:ext uri="{FF2B5EF4-FFF2-40B4-BE49-F238E27FC236}">
                <a16:creationId xmlns:a16="http://schemas.microsoft.com/office/drawing/2014/main" id="{809C5320-0161-C582-141C-55F06D4F3BAE}"/>
              </a:ext>
            </a:extLst>
          </p:cNvPr>
          <p:cNvSpPr/>
          <p:nvPr userDrawn="1"/>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6">
            <a:extLst>
              <a:ext uri="{FF2B5EF4-FFF2-40B4-BE49-F238E27FC236}">
                <a16:creationId xmlns:a16="http://schemas.microsoft.com/office/drawing/2014/main" id="{29C982F3-4477-76AC-0429-350585A39FFA}"/>
              </a:ext>
            </a:extLst>
          </p:cNvPr>
          <p:cNvSpPr/>
          <p:nvPr userDrawn="1"/>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5">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87A8F7B2-0552-AAD4-9DE2-845DE10CA10A}"/>
              </a:ext>
            </a:extLst>
          </p:cNvPr>
          <p:cNvSpPr/>
          <p:nvPr userDrawn="1"/>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9">
            <a:extLst>
              <a:ext uri="{FF2B5EF4-FFF2-40B4-BE49-F238E27FC236}">
                <a16:creationId xmlns:a16="http://schemas.microsoft.com/office/drawing/2014/main" id="{395DA7FF-BAA0-F04C-CA6C-16E9C2D55593}"/>
              </a:ext>
            </a:extLst>
          </p:cNvPr>
          <p:cNvSpPr/>
          <p:nvPr userDrawn="1"/>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468D9CEC-53B7-B8DC-B77E-E3F86681879C}"/>
              </a:ext>
            </a:extLst>
          </p:cNvPr>
          <p:cNvSpPr/>
          <p:nvPr userDrawn="1"/>
        </p:nvSpPr>
        <p:spPr>
          <a:xfrm>
            <a:off x="2336512" y="-9525"/>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9222D4D6-56B1-C4C3-0E51-FB22F0CD902B}"/>
              </a:ext>
            </a:extLst>
          </p:cNvPr>
          <p:cNvSpPr/>
          <p:nvPr userDrawn="1"/>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0E6292F0-9E78-C98C-097B-30DEBBC1B179}"/>
              </a:ext>
            </a:extLst>
          </p:cNvPr>
          <p:cNvSpPr/>
          <p:nvPr userDrawn="1"/>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2">
            <a:extLst>
              <a:ext uri="{FF2B5EF4-FFF2-40B4-BE49-F238E27FC236}">
                <a16:creationId xmlns:a16="http://schemas.microsoft.com/office/drawing/2014/main" id="{315817B3-76DB-FDD0-60F7-E385C0E84F58}"/>
              </a:ext>
            </a:extLst>
          </p:cNvPr>
          <p:cNvSpPr/>
          <p:nvPr userDrawn="1"/>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Tree>
    <p:extLst>
      <p:ext uri="{BB962C8B-B14F-4D97-AF65-F5344CB8AC3E}">
        <p14:creationId xmlns:p14="http://schemas.microsoft.com/office/powerpoint/2010/main" val="389171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72" r:id="rId9"/>
    <p:sldLayoutId id="2147483673" r:id="rId10"/>
    <p:sldLayoutId id="2147483653" r:id="rId11"/>
    <p:sldLayoutId id="2147483663" r:id="rId12"/>
    <p:sldLayoutId id="2147483665" r:id="rId13"/>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dirty="0"/>
              <a:t>New Aviation Fleet Acquisition Risk Analysis</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normAutofit fontScale="85000" lnSpcReduction="20000"/>
          </a:bodyPr>
          <a:lstStyle/>
          <a:p>
            <a:r>
              <a:rPr lang="en-US" dirty="0"/>
              <a:t>Prepared for: Executive Leadership &amp; Aviation Division</a:t>
            </a:r>
          </a:p>
          <a:p>
            <a:r>
              <a:rPr lang="en-US" dirty="0"/>
              <a:t>Prepared by : Mercy Apondi</a:t>
            </a:r>
          </a:p>
          <a:p>
            <a:endParaRPr lang="en-US" dirty="0"/>
          </a:p>
        </p:txBody>
      </p:sp>
      <p:pic>
        <p:nvPicPr>
          <p:cNvPr id="5" name="Picture Placeholder 4">
            <a:extLst>
              <a:ext uri="{FF2B5EF4-FFF2-40B4-BE49-F238E27FC236}">
                <a16:creationId xmlns:a16="http://schemas.microsoft.com/office/drawing/2014/main" id="{69933B31-07D9-EEF1-9047-A8186B8276DF}"/>
              </a:ext>
            </a:extLst>
          </p:cNvPr>
          <p:cNvPicPr>
            <a:picLocks noGrp="1" noChangeAspect="1"/>
          </p:cNvPicPr>
          <p:nvPr>
            <p:ph type="pic" sz="quarter" idx="47"/>
          </p:nvPr>
        </p:nvPicPr>
        <p:blipFill>
          <a:blip r:embed="rId3"/>
          <a:srcRect l="22596" r="22596"/>
          <a:stretch>
            <a:fillRect/>
          </a:stretch>
        </p:blipFill>
        <p:spPr>
          <a:xfrm>
            <a:off x="6742557" y="1052622"/>
            <a:ext cx="4405503" cy="4710225"/>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BEGINNING</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Overview</a:t>
            </a:r>
          </a:p>
          <a:p>
            <a:r>
              <a:rPr lang="en-US" dirty="0"/>
              <a:t>Business Understanding</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510364"/>
            <a:ext cx="5029200" cy="680484"/>
          </a:xfrm>
        </p:spPr>
        <p:txBody>
          <a:bodyPr lIns="0" anchor="b" anchorCtr="0">
            <a:normAutofit/>
          </a:bodyPr>
          <a:lstStyle/>
          <a:p>
            <a:pPr algn="ctr"/>
            <a:r>
              <a:rPr lang="en-US" sz="4000" dirty="0"/>
              <a:t>OVERVIEW</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1190848"/>
            <a:ext cx="4910328" cy="5029199"/>
          </a:xfrm>
        </p:spPr>
        <p:txBody>
          <a:bodyPr>
            <a:noAutofit/>
          </a:bodyPr>
          <a:lstStyle/>
          <a:p>
            <a:r>
              <a:rPr lang="en-US" sz="1400" dirty="0"/>
              <a:t>The goal of this analysis is to help the company enter the aviation sector by identifying low-risk fleet using historical accident data from the National Transportation Safety Board (NTSB).</a:t>
            </a:r>
          </a:p>
          <a:p>
            <a:r>
              <a:rPr lang="en-US" sz="1400" dirty="0"/>
              <a:t>This is how this study has been achieved:</a:t>
            </a:r>
          </a:p>
          <a:p>
            <a:r>
              <a:rPr lang="en-US" sz="1400" dirty="0"/>
              <a:t>-Analyze 60 years of aircraft accident reports.</a:t>
            </a:r>
          </a:p>
          <a:p>
            <a:r>
              <a:rPr lang="en-US" sz="1400" dirty="0"/>
              <a:t>-Evaluate risk based on: </a:t>
            </a:r>
          </a:p>
          <a:p>
            <a:r>
              <a:rPr lang="en-US" sz="1400" dirty="0"/>
              <a:t>	-Air Craft Category</a:t>
            </a:r>
          </a:p>
          <a:p>
            <a:r>
              <a:rPr lang="en-US" sz="1400" dirty="0"/>
              <a:t>	-Engine Type and No. of Engines</a:t>
            </a:r>
          </a:p>
          <a:p>
            <a:r>
              <a:rPr lang="en-US" sz="1400" dirty="0"/>
              <a:t>	- Make (Manufacturer)</a:t>
            </a:r>
          </a:p>
          <a:p>
            <a:r>
              <a:rPr lang="en-US" sz="1400" dirty="0"/>
              <a:t>	-Injury Severity</a:t>
            </a:r>
          </a:p>
          <a:p>
            <a:r>
              <a:rPr lang="en-US" sz="1400" dirty="0"/>
              <a:t>	-Aircraft Damage Outcomes</a:t>
            </a:r>
          </a:p>
          <a:p>
            <a:r>
              <a:rPr lang="en-US" sz="1400" dirty="0"/>
              <a:t>- Finally, Generate three insights tied to business recommendation. </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1085372"/>
          </a:xfrm>
          <a:noFill/>
        </p:spPr>
        <p:txBody>
          <a:bodyPr anchor="t" anchorCtr="0">
            <a:noAutofit/>
          </a:bodyPr>
          <a:lstStyle/>
          <a:p>
            <a:r>
              <a:rPr lang="en-US" dirty="0"/>
              <a:t>BUSINESS UNDERSTANDING</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1796903"/>
            <a:ext cx="5029200" cy="4421018"/>
          </a:xfrm>
          <a:noFill/>
        </p:spPr>
        <p:txBody>
          <a:bodyPr>
            <a:normAutofit fontScale="92500" lnSpcReduction="10000"/>
          </a:bodyPr>
          <a:lstStyle/>
          <a:p>
            <a:pPr marL="0" indent="0">
              <a:buNone/>
            </a:pPr>
            <a:r>
              <a:rPr lang="en-US" dirty="0"/>
              <a:t>Our Company wants to Invest in Aircraft for commercial and Private Operations. Before purchasing Aircraft, Leaders need to Understand:</a:t>
            </a:r>
          </a:p>
          <a:p>
            <a:pPr>
              <a:buFontTx/>
              <a:buChar char="-"/>
            </a:pPr>
            <a:r>
              <a:rPr lang="en-US" dirty="0"/>
              <a:t>Which Aircrafts Historically have the lowest accident and fatality rates.</a:t>
            </a:r>
          </a:p>
          <a:p>
            <a:pPr>
              <a:buFontTx/>
              <a:buChar char="-"/>
            </a:pPr>
            <a:r>
              <a:rPr lang="en-US" dirty="0"/>
              <a:t>Whether Engine type or number of Engines affect Safety.</a:t>
            </a:r>
          </a:p>
          <a:p>
            <a:pPr>
              <a:buFontTx/>
              <a:buChar char="-"/>
            </a:pPr>
            <a:r>
              <a:rPr lang="en-US" dirty="0"/>
              <a:t>Which Manufacturers have historically safer aircraft.</a:t>
            </a:r>
          </a:p>
          <a:p>
            <a:pPr>
              <a:buFontTx/>
              <a:buChar char="-"/>
            </a:pPr>
            <a:r>
              <a:rPr lang="en-US" dirty="0"/>
              <a:t>What type of accidents typically lead to severe injuries or total aircraft loss.</a:t>
            </a:r>
          </a:p>
          <a:p>
            <a:pPr marL="0" indent="0">
              <a:buNone/>
            </a:pPr>
            <a:r>
              <a:rPr lang="en-US" dirty="0"/>
              <a:t>BUSINESS QUESTION</a:t>
            </a:r>
          </a:p>
          <a:p>
            <a:pPr marL="0" indent="0">
              <a:buNone/>
            </a:pPr>
            <a:r>
              <a:rPr lang="en-US" dirty="0"/>
              <a:t>Which aircrafts generally in regards to type and specifications pose a low risk of operation for our proposed new aviation business?</a:t>
            </a:r>
          </a:p>
          <a:p>
            <a:pPr marL="0" indent="0">
              <a:buNone/>
            </a:pPr>
            <a:endParaRPr lang="en-US" dirty="0"/>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1121735"/>
          </a:xfrm>
        </p:spPr>
        <p:txBody>
          <a:bodyPr anchor="t" anchorCtr="0"/>
          <a:lstStyle/>
          <a:p>
            <a:r>
              <a:rPr lang="en-US" sz="4000" dirty="0"/>
              <a:t>MIDDLE</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Data Understanding</a:t>
            </a:r>
          </a:p>
          <a:p>
            <a:r>
              <a:rPr lang="en-US" dirty="0"/>
              <a:t>Data Analysis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5</a:t>
            </a:fld>
            <a:endParaRPr lang="en-US" altLang="zh-CN" noProof="0" dirty="0"/>
          </a:p>
        </p:txBody>
      </p:sp>
    </p:spTree>
    <p:extLst>
      <p:ext uri="{BB962C8B-B14F-4D97-AF65-F5344CB8AC3E}">
        <p14:creationId xmlns:p14="http://schemas.microsoft.com/office/powerpoint/2010/main" val="1291538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510364"/>
            <a:ext cx="5029200" cy="680484"/>
          </a:xfrm>
        </p:spPr>
        <p:txBody>
          <a:bodyPr lIns="0" anchor="b" anchorCtr="0">
            <a:normAutofit fontScale="90000"/>
          </a:bodyPr>
          <a:lstStyle/>
          <a:p>
            <a:pPr algn="ctr"/>
            <a:r>
              <a:rPr lang="en-US" sz="4000" dirty="0"/>
              <a:t>DATA UNDERSTANDING</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1190848"/>
            <a:ext cx="4910328" cy="3710761"/>
          </a:xfrm>
        </p:spPr>
        <p:txBody>
          <a:bodyPr>
            <a:noAutofit/>
          </a:bodyPr>
          <a:lstStyle/>
          <a:p>
            <a:r>
              <a:rPr lang="en-US" sz="1600" dirty="0"/>
              <a:t>The Source of Data is a Dataset by National Transportation Safety Board, Aviation Accident Data (1962_2023).</a:t>
            </a:r>
          </a:p>
          <a:p>
            <a:endParaRPr lang="en-US" sz="1600" dirty="0"/>
          </a:p>
          <a:p>
            <a:r>
              <a:rPr lang="en-US" sz="1600" i="1" dirty="0"/>
              <a:t>Description of Data</a:t>
            </a:r>
          </a:p>
          <a:p>
            <a:r>
              <a:rPr lang="en-US" sz="1600" dirty="0"/>
              <a:t>The data typically contains records of incidents, aircraft operation, make, airports operated in, flight details and safety outcomes (fatal, serious ,injured, uninjured). The contributing factors to injuries for different types of aircrafts.</a:t>
            </a:r>
          </a:p>
          <a:p>
            <a:endParaRPr lang="en-US" sz="1600" dirty="0"/>
          </a:p>
        </p:txBody>
      </p:sp>
    </p:spTree>
    <p:extLst>
      <p:ext uri="{BB962C8B-B14F-4D97-AF65-F5344CB8AC3E}">
        <p14:creationId xmlns:p14="http://schemas.microsoft.com/office/powerpoint/2010/main" val="549577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510364"/>
            <a:ext cx="5029200" cy="680484"/>
          </a:xfrm>
        </p:spPr>
        <p:txBody>
          <a:bodyPr lIns="0" anchor="b" anchorCtr="0">
            <a:normAutofit/>
          </a:bodyPr>
          <a:lstStyle/>
          <a:p>
            <a:pPr algn="ctr"/>
            <a:r>
              <a:rPr lang="en-US" sz="4000" dirty="0"/>
              <a:t>DATA ANALYSIS</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1190848"/>
            <a:ext cx="4910328" cy="3710761"/>
          </a:xfrm>
        </p:spPr>
        <p:txBody>
          <a:bodyPr>
            <a:noAutofit/>
          </a:bodyPr>
          <a:lstStyle/>
          <a:p>
            <a:r>
              <a:rPr lang="en-US" sz="1600" dirty="0"/>
              <a:t>To  Evaluate Aircraft Safety, we came up with the following conclusions to help determine which best Makes of Aircraft to purchase and their risk factors levels.</a:t>
            </a:r>
          </a:p>
          <a:p>
            <a:r>
              <a:rPr lang="en-US" sz="1600" dirty="0"/>
              <a:t>	-Top 10 Makes with the Lowest Average Fatal Injuries per record.</a:t>
            </a:r>
          </a:p>
          <a:p>
            <a:r>
              <a:rPr lang="en-US" sz="1600" dirty="0"/>
              <a:t>	- Worst 10 Makes by proportion of Accidents with Fatalities.</a:t>
            </a:r>
          </a:p>
          <a:p>
            <a:r>
              <a:rPr lang="en-US" sz="1600" dirty="0"/>
              <a:t>	- Average Fatal Injuries by Aircraft Category</a:t>
            </a:r>
          </a:p>
          <a:p>
            <a:endParaRPr lang="en-US" sz="1600" dirty="0"/>
          </a:p>
        </p:txBody>
      </p:sp>
    </p:spTree>
    <p:extLst>
      <p:ext uri="{BB962C8B-B14F-4D97-AF65-F5344CB8AC3E}">
        <p14:creationId xmlns:p14="http://schemas.microsoft.com/office/powerpoint/2010/main" val="3945189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143000" y="2105247"/>
            <a:ext cx="5029200" cy="3923413"/>
          </a:xfrm>
        </p:spPr>
        <p:txBody>
          <a:bodyPr lIns="0" anchor="t" anchorCtr="0">
            <a:normAutofit/>
          </a:bodyPr>
          <a:lstStyle/>
          <a:p>
            <a:pPr algn="ctr"/>
            <a:r>
              <a:rPr lang="en-US" sz="2000" dirty="0"/>
              <a:t>Plot A: Top 10 Makes with Lowest Average Fatal Per Record</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61872" y="914400"/>
            <a:ext cx="5029200" cy="627321"/>
          </a:xfrm>
        </p:spPr>
        <p:txBody>
          <a:bodyPr anchor="b" anchorCtr="0">
            <a:noAutofit/>
          </a:bodyPr>
          <a:lstStyle/>
          <a:p>
            <a:r>
              <a:rPr lang="en-US" sz="4400" dirty="0">
                <a:latin typeface="+mj-lt"/>
              </a:rPr>
              <a:t>Data Visualization from Analysis</a:t>
            </a:r>
          </a:p>
        </p:txBody>
      </p:sp>
      <p:pic>
        <p:nvPicPr>
          <p:cNvPr id="11" name="Picture 10">
            <a:extLst>
              <a:ext uri="{FF2B5EF4-FFF2-40B4-BE49-F238E27FC236}">
                <a16:creationId xmlns:a16="http://schemas.microsoft.com/office/drawing/2014/main" id="{591BD452-B6C0-D630-7B2E-2B1D8091522A}"/>
              </a:ext>
            </a:extLst>
          </p:cNvPr>
          <p:cNvPicPr>
            <a:picLocks noChangeAspect="1"/>
          </p:cNvPicPr>
          <p:nvPr/>
        </p:nvPicPr>
        <p:blipFill>
          <a:blip r:embed="rId2"/>
          <a:stretch>
            <a:fillRect/>
          </a:stretch>
        </p:blipFill>
        <p:spPr>
          <a:xfrm>
            <a:off x="196896" y="2825086"/>
            <a:ext cx="6724900" cy="3203574"/>
          </a:xfrm>
          <a:prstGeom prst="rect">
            <a:avLst/>
          </a:prstGeom>
        </p:spPr>
      </p:pic>
      <p:sp>
        <p:nvSpPr>
          <p:cNvPr id="18" name="TextBox 17">
            <a:extLst>
              <a:ext uri="{FF2B5EF4-FFF2-40B4-BE49-F238E27FC236}">
                <a16:creationId xmlns:a16="http://schemas.microsoft.com/office/drawing/2014/main" id="{277264E4-94A1-EA12-F759-D5BA5BC487CE}"/>
              </a:ext>
            </a:extLst>
          </p:cNvPr>
          <p:cNvSpPr txBox="1"/>
          <p:nvPr/>
        </p:nvSpPr>
        <p:spPr>
          <a:xfrm>
            <a:off x="8176436" y="680481"/>
            <a:ext cx="3593805" cy="5078313"/>
          </a:xfrm>
          <a:prstGeom prst="rect">
            <a:avLst/>
          </a:prstGeom>
        </p:spPr>
        <p:txBody>
          <a:bodyPr wrap="square" rtlCol="0">
            <a:spAutoFit/>
          </a:bodyPr>
          <a:lstStyle/>
          <a:p>
            <a:r>
              <a:rPr lang="en-US" dirty="0">
                <a:solidFill>
                  <a:schemeClr val="bg1"/>
                </a:solidFill>
              </a:rPr>
              <a:t>This bar chart ranks aircraft </a:t>
            </a:r>
            <a:r>
              <a:rPr lang="en-US" b="1" dirty="0">
                <a:solidFill>
                  <a:schemeClr val="bg1"/>
                </a:solidFill>
              </a:rPr>
              <a:t>manufacturers (make)</a:t>
            </a:r>
            <a:r>
              <a:rPr lang="en-US" dirty="0">
                <a:solidFill>
                  <a:schemeClr val="bg1"/>
                </a:solidFill>
              </a:rPr>
              <a:t> by their </a:t>
            </a:r>
            <a:r>
              <a:rPr lang="en-US" b="1" dirty="0">
                <a:solidFill>
                  <a:schemeClr val="bg1"/>
                </a:solidFill>
              </a:rPr>
              <a:t>average number of fatal injuries per incident</a:t>
            </a:r>
            <a:r>
              <a:rPr lang="en-US" dirty="0">
                <a:solidFill>
                  <a:schemeClr val="bg1"/>
                </a:solidFill>
              </a:rPr>
              <a:t>, focusing only on makes with a </a:t>
            </a:r>
            <a:r>
              <a:rPr lang="en-US" b="1" dirty="0">
                <a:solidFill>
                  <a:schemeClr val="bg1"/>
                </a:solidFill>
              </a:rPr>
              <a:t>sufficient number of records</a:t>
            </a:r>
            <a:r>
              <a:rPr lang="en-US" dirty="0">
                <a:solidFill>
                  <a:schemeClr val="bg1"/>
                </a:solidFill>
              </a:rPr>
              <a:t> (e.g., ≥30) to ensure reliability.</a:t>
            </a:r>
          </a:p>
          <a:p>
            <a:r>
              <a:rPr lang="en-US" dirty="0">
                <a:solidFill>
                  <a:schemeClr val="bg1"/>
                </a:solidFill>
              </a:rPr>
              <a:t>Aircraft makes at the </a:t>
            </a:r>
            <a:r>
              <a:rPr lang="en-US" b="1" dirty="0">
                <a:solidFill>
                  <a:schemeClr val="bg1"/>
                </a:solidFill>
              </a:rPr>
              <a:t>left (lowest bars)</a:t>
            </a:r>
            <a:r>
              <a:rPr lang="en-US" dirty="0">
                <a:solidFill>
                  <a:schemeClr val="bg1"/>
                </a:solidFill>
              </a:rPr>
              <a:t> demonstrate </a:t>
            </a:r>
            <a:r>
              <a:rPr lang="en-US" b="1" dirty="0">
                <a:solidFill>
                  <a:schemeClr val="bg1"/>
                </a:solidFill>
              </a:rPr>
              <a:t>consistently lower fatal outcomes</a:t>
            </a:r>
            <a:r>
              <a:rPr lang="en-US" dirty="0">
                <a:solidFill>
                  <a:schemeClr val="bg1"/>
                </a:solidFill>
              </a:rPr>
              <a:t> across many historical incidents. This indicates:</a:t>
            </a:r>
          </a:p>
          <a:p>
            <a:pPr>
              <a:buFont typeface="Arial" panose="020B0604020202020204" pitchFamily="34" charset="0"/>
              <a:buChar char="•"/>
            </a:pPr>
            <a:r>
              <a:rPr lang="en-US" dirty="0">
                <a:solidFill>
                  <a:schemeClr val="bg1"/>
                </a:solidFill>
              </a:rPr>
              <a:t>Better aircraft design robustness</a:t>
            </a:r>
          </a:p>
          <a:p>
            <a:pPr>
              <a:buFont typeface="Arial" panose="020B0604020202020204" pitchFamily="34" charset="0"/>
              <a:buChar char="•"/>
            </a:pPr>
            <a:r>
              <a:rPr lang="en-US" dirty="0">
                <a:solidFill>
                  <a:schemeClr val="bg1"/>
                </a:solidFill>
              </a:rPr>
              <a:t>More reliable systems</a:t>
            </a:r>
          </a:p>
          <a:p>
            <a:pPr>
              <a:buFont typeface="Arial" panose="020B0604020202020204" pitchFamily="34" charset="0"/>
              <a:buChar char="•"/>
            </a:pPr>
            <a:r>
              <a:rPr lang="en-US" dirty="0">
                <a:solidFill>
                  <a:schemeClr val="bg1"/>
                </a:solidFill>
              </a:rPr>
              <a:t>Stronger safety track records in real-world operations</a:t>
            </a:r>
          </a:p>
          <a:p>
            <a:pPr>
              <a:buFont typeface="Arial" panose="020B0604020202020204" pitchFamily="34" charset="0"/>
              <a:buChar char="•"/>
            </a:pPr>
            <a:endParaRPr lang="en-US" dirty="0">
              <a:solidFill>
                <a:schemeClr val="bg1"/>
              </a:solidFill>
            </a:endParaRPr>
          </a:p>
          <a:p>
            <a:pPr marL="0" indent="0" algn="ctr">
              <a:lnSpc>
                <a:spcPct val="100000"/>
              </a:lnSpc>
              <a:spcBef>
                <a:spcPts val="0"/>
              </a:spcBef>
              <a:buFontTx/>
              <a:buNone/>
            </a:pPr>
            <a:endParaRPr lang="en-US" sz="1800" dirty="0">
              <a:solidFill>
                <a:prstClr val="white"/>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2735087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143000" y="1711843"/>
            <a:ext cx="5029200" cy="925031"/>
          </a:xfrm>
        </p:spPr>
        <p:txBody>
          <a:bodyPr lIns="0" anchor="t" anchorCtr="0">
            <a:normAutofit/>
          </a:bodyPr>
          <a:lstStyle/>
          <a:p>
            <a:pPr algn="ctr"/>
            <a:r>
              <a:rPr lang="en-US" sz="2000" dirty="0"/>
              <a:t>Plot B: Worst 10 Makes by proportion of Accidents with Fatalities</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61872" y="914400"/>
            <a:ext cx="5029200" cy="627321"/>
          </a:xfrm>
        </p:spPr>
        <p:txBody>
          <a:bodyPr anchor="b" anchorCtr="0">
            <a:noAutofit/>
          </a:bodyPr>
          <a:lstStyle/>
          <a:p>
            <a:r>
              <a:rPr lang="en-US" sz="4400" dirty="0">
                <a:latin typeface="+mj-lt"/>
              </a:rPr>
              <a:t>Data Visualization from Analysis</a:t>
            </a:r>
          </a:p>
        </p:txBody>
      </p:sp>
      <p:pic>
        <p:nvPicPr>
          <p:cNvPr id="5" name="Picture 4">
            <a:extLst>
              <a:ext uri="{FF2B5EF4-FFF2-40B4-BE49-F238E27FC236}">
                <a16:creationId xmlns:a16="http://schemas.microsoft.com/office/drawing/2014/main" id="{83E5D184-FC40-038B-7636-41C8585177D1}"/>
              </a:ext>
            </a:extLst>
          </p:cNvPr>
          <p:cNvPicPr>
            <a:picLocks noChangeAspect="1"/>
          </p:cNvPicPr>
          <p:nvPr/>
        </p:nvPicPr>
        <p:blipFill>
          <a:blip r:embed="rId2"/>
          <a:stretch>
            <a:fillRect/>
          </a:stretch>
        </p:blipFill>
        <p:spPr>
          <a:xfrm>
            <a:off x="120254" y="3168360"/>
            <a:ext cx="7141784" cy="2860300"/>
          </a:xfrm>
          <a:prstGeom prst="rect">
            <a:avLst/>
          </a:prstGeom>
        </p:spPr>
      </p:pic>
      <p:sp>
        <p:nvSpPr>
          <p:cNvPr id="6" name="TextBox 5">
            <a:extLst>
              <a:ext uri="{FF2B5EF4-FFF2-40B4-BE49-F238E27FC236}">
                <a16:creationId xmlns:a16="http://schemas.microsoft.com/office/drawing/2014/main" id="{045053C2-6DA2-1D03-FB22-90B08FAF4312}"/>
              </a:ext>
            </a:extLst>
          </p:cNvPr>
          <p:cNvSpPr txBox="1"/>
          <p:nvPr/>
        </p:nvSpPr>
        <p:spPr>
          <a:xfrm>
            <a:off x="7634177" y="490704"/>
            <a:ext cx="4072269" cy="5355312"/>
          </a:xfrm>
          <a:prstGeom prst="rect">
            <a:avLst/>
          </a:prstGeom>
        </p:spPr>
        <p:txBody>
          <a:bodyPr wrap="square" rtlCol="0">
            <a:spAutoFit/>
          </a:bodyPr>
          <a:lstStyle/>
          <a:p>
            <a:r>
              <a:rPr lang="en-US" dirty="0">
                <a:solidFill>
                  <a:schemeClr val="bg1"/>
                </a:solidFill>
              </a:rPr>
              <a:t>This chart highlights aircraft makes where a </a:t>
            </a:r>
            <a:r>
              <a:rPr lang="en-US" b="1" dirty="0">
                <a:solidFill>
                  <a:schemeClr val="bg1"/>
                </a:solidFill>
              </a:rPr>
              <a:t>high percentage of incidents result in at least one fatality</a:t>
            </a:r>
            <a:r>
              <a:rPr lang="en-US" dirty="0">
                <a:solidFill>
                  <a:schemeClr val="bg1"/>
                </a:solidFill>
              </a:rPr>
              <a:t>, regardless of how many total incidents they have.</a:t>
            </a:r>
          </a:p>
          <a:p>
            <a:pPr>
              <a:buFont typeface="Arial" panose="020B0604020202020204" pitchFamily="34" charset="0"/>
              <a:buChar char="•"/>
            </a:pPr>
            <a:r>
              <a:rPr lang="en-US" dirty="0">
                <a:solidFill>
                  <a:schemeClr val="bg1"/>
                </a:solidFill>
              </a:rPr>
              <a:t>Each bar = one aircraft manufacturer</a:t>
            </a:r>
          </a:p>
          <a:p>
            <a:pPr>
              <a:buFont typeface="Arial" panose="020B0604020202020204" pitchFamily="34" charset="0"/>
              <a:buChar char="•"/>
            </a:pPr>
            <a:r>
              <a:rPr lang="en-US" dirty="0">
                <a:solidFill>
                  <a:schemeClr val="bg1"/>
                </a:solidFill>
              </a:rPr>
              <a:t>Height of bar = likelihood that an incident involves a fatality</a:t>
            </a:r>
          </a:p>
          <a:p>
            <a:pPr>
              <a:buFont typeface="Arial" panose="020B0604020202020204" pitchFamily="34" charset="0"/>
              <a:buChar char="•"/>
            </a:pPr>
            <a:r>
              <a:rPr lang="en-US" dirty="0">
                <a:solidFill>
                  <a:schemeClr val="bg1"/>
                </a:solidFill>
              </a:rPr>
              <a:t>Focuses on </a:t>
            </a:r>
            <a:r>
              <a:rPr lang="en-US" b="1" dirty="0">
                <a:solidFill>
                  <a:schemeClr val="bg1"/>
                </a:solidFill>
              </a:rPr>
              <a:t>risk probability</a:t>
            </a:r>
            <a:r>
              <a:rPr lang="en-US" dirty="0">
                <a:solidFill>
                  <a:schemeClr val="bg1"/>
                </a:solidFill>
              </a:rPr>
              <a:t>, not severity size.</a:t>
            </a:r>
          </a:p>
          <a:p>
            <a:r>
              <a:rPr lang="en-US" dirty="0">
                <a:solidFill>
                  <a:schemeClr val="bg1"/>
                </a:solidFill>
              </a:rPr>
              <a:t>Some aircraft makes may not have many incidents, but </a:t>
            </a:r>
            <a:r>
              <a:rPr lang="en-US" b="1" dirty="0">
                <a:solidFill>
                  <a:schemeClr val="bg1"/>
                </a:solidFill>
              </a:rPr>
              <a:t>when something goes wrong, it is more likely to be fatal</a:t>
            </a:r>
            <a:r>
              <a:rPr lang="en-US" dirty="0">
                <a:solidFill>
                  <a:schemeClr val="bg1"/>
                </a:solidFill>
              </a:rPr>
              <a:t>. This indicates:</a:t>
            </a:r>
          </a:p>
          <a:p>
            <a:pPr>
              <a:buFont typeface="Arial" panose="020B0604020202020204" pitchFamily="34" charset="0"/>
              <a:buChar char="•"/>
            </a:pPr>
            <a:r>
              <a:rPr lang="en-US" dirty="0">
                <a:solidFill>
                  <a:schemeClr val="bg1"/>
                </a:solidFill>
              </a:rPr>
              <a:t>Less margin for error</a:t>
            </a:r>
          </a:p>
          <a:p>
            <a:pPr>
              <a:buFont typeface="Arial" panose="020B0604020202020204" pitchFamily="34" charset="0"/>
              <a:buChar char="•"/>
            </a:pPr>
            <a:r>
              <a:rPr lang="en-US" dirty="0">
                <a:solidFill>
                  <a:schemeClr val="bg1"/>
                </a:solidFill>
              </a:rPr>
              <a:t>Potential design, performance, or operational vulnerabilities</a:t>
            </a:r>
          </a:p>
          <a:p>
            <a:pPr>
              <a:buFont typeface="Arial" panose="020B0604020202020204" pitchFamily="34" charset="0"/>
              <a:buChar char="•"/>
            </a:pPr>
            <a:r>
              <a:rPr lang="en-US" dirty="0">
                <a:solidFill>
                  <a:schemeClr val="bg1"/>
                </a:solidFill>
              </a:rPr>
              <a:t>Higher insurance and liability exposure</a:t>
            </a:r>
          </a:p>
          <a:p>
            <a:pPr>
              <a:buFont typeface="Arial" panose="020B0604020202020204" pitchFamily="34" charset="0"/>
              <a:buChar char="•"/>
            </a:pPr>
            <a:endParaRPr lang="en-US" dirty="0">
              <a:solidFill>
                <a:schemeClr val="bg1"/>
              </a:solidFill>
            </a:endParaRPr>
          </a:p>
        </p:txBody>
      </p:sp>
    </p:spTree>
    <p:extLst>
      <p:ext uri="{BB962C8B-B14F-4D97-AF65-F5344CB8AC3E}">
        <p14:creationId xmlns:p14="http://schemas.microsoft.com/office/powerpoint/2010/main" val="2718902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066800" y="1743742"/>
            <a:ext cx="5029200" cy="627322"/>
          </a:xfrm>
        </p:spPr>
        <p:txBody>
          <a:bodyPr lIns="0" anchor="t" anchorCtr="0">
            <a:normAutofit fontScale="90000"/>
          </a:bodyPr>
          <a:lstStyle/>
          <a:p>
            <a:pPr algn="ctr"/>
            <a:r>
              <a:rPr lang="en-US" sz="2000" dirty="0"/>
              <a:t>Plot C: Average Fatal Injuries by Aircraft Category</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61872" y="914400"/>
            <a:ext cx="5029200" cy="627321"/>
          </a:xfrm>
        </p:spPr>
        <p:txBody>
          <a:bodyPr anchor="b" anchorCtr="0">
            <a:noAutofit/>
          </a:bodyPr>
          <a:lstStyle/>
          <a:p>
            <a:r>
              <a:rPr lang="en-US" sz="4400" dirty="0">
                <a:latin typeface="+mj-lt"/>
              </a:rPr>
              <a:t>Data Visualization from Analysis</a:t>
            </a:r>
          </a:p>
        </p:txBody>
      </p:sp>
      <p:pic>
        <p:nvPicPr>
          <p:cNvPr id="6" name="Picture 5">
            <a:extLst>
              <a:ext uri="{FF2B5EF4-FFF2-40B4-BE49-F238E27FC236}">
                <a16:creationId xmlns:a16="http://schemas.microsoft.com/office/drawing/2014/main" id="{F338AC2A-90F8-3CAC-6025-72109E723026}"/>
              </a:ext>
            </a:extLst>
          </p:cNvPr>
          <p:cNvPicPr>
            <a:picLocks noChangeAspect="1"/>
          </p:cNvPicPr>
          <p:nvPr/>
        </p:nvPicPr>
        <p:blipFill>
          <a:blip r:embed="rId2"/>
          <a:stretch>
            <a:fillRect/>
          </a:stretch>
        </p:blipFill>
        <p:spPr>
          <a:xfrm>
            <a:off x="243878" y="3040913"/>
            <a:ext cx="7209546" cy="2987748"/>
          </a:xfrm>
          <a:prstGeom prst="rect">
            <a:avLst/>
          </a:prstGeom>
        </p:spPr>
      </p:pic>
      <p:sp>
        <p:nvSpPr>
          <p:cNvPr id="8" name="TextBox 7">
            <a:extLst>
              <a:ext uri="{FF2B5EF4-FFF2-40B4-BE49-F238E27FC236}">
                <a16:creationId xmlns:a16="http://schemas.microsoft.com/office/drawing/2014/main" id="{FF26861D-F027-E78C-960E-130257A57685}"/>
              </a:ext>
            </a:extLst>
          </p:cNvPr>
          <p:cNvSpPr txBox="1"/>
          <p:nvPr/>
        </p:nvSpPr>
        <p:spPr>
          <a:xfrm>
            <a:off x="8091832" y="425301"/>
            <a:ext cx="3856290" cy="4801314"/>
          </a:xfrm>
          <a:prstGeom prst="rect">
            <a:avLst/>
          </a:prstGeom>
        </p:spPr>
        <p:txBody>
          <a:bodyPr wrap="square" rtlCol="0">
            <a:spAutoFit/>
          </a:bodyPr>
          <a:lstStyle/>
          <a:p>
            <a:r>
              <a:rPr lang="en-US" dirty="0">
                <a:solidFill>
                  <a:schemeClr val="bg1"/>
                </a:solidFill>
              </a:rPr>
              <a:t>This graph compares </a:t>
            </a:r>
            <a:r>
              <a:rPr lang="en-US" b="1" dirty="0">
                <a:solidFill>
                  <a:schemeClr val="bg1"/>
                </a:solidFill>
              </a:rPr>
              <a:t>broad aircraft categories</a:t>
            </a:r>
            <a:r>
              <a:rPr lang="en-US" dirty="0">
                <a:solidFill>
                  <a:schemeClr val="bg1"/>
                </a:solidFill>
              </a:rPr>
              <a:t> (e.g., Transport, Commuter, Experimental, General Aviation) by </a:t>
            </a:r>
            <a:r>
              <a:rPr lang="en-US" b="1" dirty="0">
                <a:solidFill>
                  <a:schemeClr val="bg1"/>
                </a:solidFill>
              </a:rPr>
              <a:t>average fatal injuries per incident</a:t>
            </a:r>
            <a:r>
              <a:rPr lang="en-US" dirty="0">
                <a:solidFill>
                  <a:schemeClr val="bg1"/>
                </a:solidFill>
              </a:rPr>
              <a:t>. Certified commercial categories (such as </a:t>
            </a:r>
            <a:r>
              <a:rPr lang="en-US" b="1" dirty="0">
                <a:solidFill>
                  <a:schemeClr val="bg1"/>
                </a:solidFill>
              </a:rPr>
              <a:t>Transport and Commuter aircraft</a:t>
            </a:r>
            <a:r>
              <a:rPr lang="en-US" dirty="0">
                <a:solidFill>
                  <a:schemeClr val="bg1"/>
                </a:solidFill>
              </a:rPr>
              <a:t>) consistently show:</a:t>
            </a:r>
          </a:p>
          <a:p>
            <a:pPr>
              <a:buFont typeface="Arial" panose="020B0604020202020204" pitchFamily="34" charset="0"/>
              <a:buChar char="•"/>
            </a:pPr>
            <a:r>
              <a:rPr lang="en-US" dirty="0">
                <a:solidFill>
                  <a:schemeClr val="bg1"/>
                </a:solidFill>
              </a:rPr>
              <a:t>Lower average fatalities</a:t>
            </a:r>
          </a:p>
          <a:p>
            <a:pPr>
              <a:buFont typeface="Arial" panose="020B0604020202020204" pitchFamily="34" charset="0"/>
              <a:buChar char="•"/>
            </a:pPr>
            <a:r>
              <a:rPr lang="en-US" dirty="0">
                <a:solidFill>
                  <a:schemeClr val="bg1"/>
                </a:solidFill>
              </a:rPr>
              <a:t>Better survivability</a:t>
            </a:r>
          </a:p>
          <a:p>
            <a:pPr>
              <a:buFont typeface="Arial" panose="020B0604020202020204" pitchFamily="34" charset="0"/>
              <a:buChar char="•"/>
            </a:pPr>
            <a:r>
              <a:rPr lang="en-US" dirty="0">
                <a:solidFill>
                  <a:schemeClr val="bg1"/>
                </a:solidFill>
              </a:rPr>
              <a:t>More regulated design, maintenance, and pilot training standards</a:t>
            </a:r>
          </a:p>
          <a:p>
            <a:r>
              <a:rPr lang="en-US" dirty="0">
                <a:solidFill>
                  <a:schemeClr val="bg1"/>
                </a:solidFill>
              </a:rPr>
              <a:t>Non-certified or experimental categories show significantly </a:t>
            </a:r>
            <a:r>
              <a:rPr lang="en-US" b="1" dirty="0">
                <a:solidFill>
                  <a:schemeClr val="bg1"/>
                </a:solidFill>
              </a:rPr>
              <a:t>higher fatal injury averages</a:t>
            </a:r>
            <a:r>
              <a:rPr lang="en-US" dirty="0">
                <a:solidFill>
                  <a:schemeClr val="bg1"/>
                </a:solidFill>
              </a:rPr>
              <a:t>.</a:t>
            </a:r>
          </a:p>
          <a:p>
            <a:endParaRPr lang="en-US" sz="1800" dirty="0">
              <a:solidFill>
                <a:prstClr val="white"/>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3818465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1121735"/>
          </a:xfrm>
        </p:spPr>
        <p:txBody>
          <a:bodyPr anchor="t" anchorCtr="0"/>
          <a:lstStyle/>
          <a:p>
            <a:r>
              <a:rPr lang="en-US" sz="4000" dirty="0"/>
              <a:t>END</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Recommendation</a:t>
            </a:r>
          </a:p>
          <a:p>
            <a:r>
              <a:rPr lang="en-US" dirty="0"/>
              <a:t>Next Steps</a:t>
            </a:r>
          </a:p>
          <a:p>
            <a:r>
              <a:rPr lang="en-US" dirty="0"/>
              <a:t>Thank you</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11</a:t>
            </a:fld>
            <a:endParaRPr lang="en-US" altLang="zh-CN" noProof="0" dirty="0"/>
          </a:p>
        </p:txBody>
      </p:sp>
    </p:spTree>
    <p:extLst>
      <p:ext uri="{BB962C8B-B14F-4D97-AF65-F5344CB8AC3E}">
        <p14:creationId xmlns:p14="http://schemas.microsoft.com/office/powerpoint/2010/main" val="3426541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522973"/>
            <a:ext cx="4663440" cy="888732"/>
          </a:xfrm>
        </p:spPr>
        <p:txBody>
          <a:bodyPr/>
          <a:lstStyle/>
          <a:p>
            <a:r>
              <a:rPr lang="en-US" dirty="0"/>
              <a:t>Recommendation</a:t>
            </a:r>
          </a:p>
        </p:txBody>
      </p:sp>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12</a:t>
            </a:fld>
            <a:endParaRPr lang="en-US" altLang="zh-CN" noProof="0" dirty="0"/>
          </a:p>
        </p:txBody>
      </p:sp>
      <p:sp>
        <p:nvSpPr>
          <p:cNvPr id="5" name="Content Placeholder 4">
            <a:extLst>
              <a:ext uri="{FF2B5EF4-FFF2-40B4-BE49-F238E27FC236}">
                <a16:creationId xmlns:a16="http://schemas.microsoft.com/office/drawing/2014/main" id="{53F968FC-1A6A-9B3E-55D9-22F2FF844FC2}"/>
              </a:ext>
            </a:extLst>
          </p:cNvPr>
          <p:cNvSpPr>
            <a:spLocks noGrp="1"/>
          </p:cNvSpPr>
          <p:nvPr>
            <p:ph idx="30"/>
          </p:nvPr>
        </p:nvSpPr>
        <p:spPr>
          <a:xfrm>
            <a:off x="425196" y="1411705"/>
            <a:ext cx="8348472" cy="3374136"/>
          </a:xfrm>
        </p:spPr>
        <p:txBody>
          <a:bodyPr/>
          <a:lstStyle/>
          <a:p>
            <a:pPr marL="0" indent="0">
              <a:buNone/>
            </a:pPr>
            <a:r>
              <a:rPr lang="en-US" dirty="0"/>
              <a:t>Recommendations in order of Derived Graphs above respectively are as follows:</a:t>
            </a:r>
          </a:p>
          <a:p>
            <a:pPr>
              <a:buFontTx/>
              <a:buChar char="-"/>
            </a:pPr>
            <a:r>
              <a:rPr lang="en-US" b="1" dirty="0"/>
              <a:t>Prioritize purchasing aircraft from the top-ranked manufacturers in this chart</a:t>
            </a:r>
            <a:r>
              <a:rPr lang="en-US" dirty="0"/>
              <a:t>, as they statistically produce fewer fatal injuries per incident and therefore reduce financial, legal, and reputational risk for the company.</a:t>
            </a:r>
          </a:p>
          <a:p>
            <a:pPr>
              <a:buFontTx/>
              <a:buChar char="-"/>
            </a:pPr>
            <a:r>
              <a:rPr lang="en-US" b="1" dirty="0"/>
              <a:t>Avoid or strictly limit investment in aircraft makes appearing in this chart</a:t>
            </a:r>
            <a:r>
              <a:rPr lang="en-US" dirty="0"/>
              <a:t>, unless their use is restricted to non-commercial, low-exposure operations with enhanced training and safety controls.</a:t>
            </a:r>
          </a:p>
          <a:p>
            <a:pPr>
              <a:buFontTx/>
              <a:buChar char="-"/>
            </a:pPr>
            <a:r>
              <a:rPr lang="en-US" b="1" dirty="0"/>
              <a:t>Limit initial fleet purchases to certified commercial aircraft categories</a:t>
            </a:r>
            <a:r>
              <a:rPr lang="en-US" dirty="0"/>
              <a:t> and avoid experimental or amateur-built categories for revenue-generating operations.</a:t>
            </a:r>
          </a:p>
        </p:txBody>
      </p:sp>
    </p:spTree>
    <p:extLst>
      <p:ext uri="{BB962C8B-B14F-4D97-AF65-F5344CB8AC3E}">
        <p14:creationId xmlns:p14="http://schemas.microsoft.com/office/powerpoint/2010/main" val="1246021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522973"/>
            <a:ext cx="4663440" cy="888732"/>
          </a:xfrm>
        </p:spPr>
        <p:txBody>
          <a:bodyPr/>
          <a:lstStyle/>
          <a:p>
            <a:r>
              <a:rPr lang="en-US" dirty="0"/>
              <a:t>Next Steps</a:t>
            </a:r>
          </a:p>
        </p:txBody>
      </p:sp>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13</a:t>
            </a:fld>
            <a:endParaRPr lang="en-US" altLang="zh-CN" noProof="0" dirty="0"/>
          </a:p>
        </p:txBody>
      </p:sp>
      <p:sp>
        <p:nvSpPr>
          <p:cNvPr id="8" name="Rectangle 3">
            <a:extLst>
              <a:ext uri="{FF2B5EF4-FFF2-40B4-BE49-F238E27FC236}">
                <a16:creationId xmlns:a16="http://schemas.microsoft.com/office/drawing/2014/main" id="{BCDCE142-72DE-8836-DE91-248F00FDC048}"/>
              </a:ext>
            </a:extLst>
          </p:cNvPr>
          <p:cNvSpPr>
            <a:spLocks noGrp="1" noChangeArrowheads="1"/>
          </p:cNvSpPr>
          <p:nvPr>
            <p:ph idx="30"/>
          </p:nvPr>
        </p:nvSpPr>
        <p:spPr bwMode="auto">
          <a:xfrm>
            <a:off x="712529" y="1332905"/>
            <a:ext cx="807477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effectLst/>
              </a:rPr>
              <a:t>To minimize operational, financial, and reputational risk: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effectLst/>
              </a:rPr>
              <a:t>Build the initial aviation fleet using aircraft that:</a:t>
            </a:r>
            <a:endParaRPr kumimoji="0" lang="en-US" altLang="en-US" sz="1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rPr>
              <a:t>Come from </a:t>
            </a:r>
            <a:r>
              <a:rPr kumimoji="0" lang="en-US" altLang="en-US" sz="1800" b="1" i="0" u="none" strike="noStrike" cap="none" normalizeH="0" baseline="0" dirty="0">
                <a:ln>
                  <a:noFill/>
                </a:ln>
                <a:effectLst/>
              </a:rPr>
              <a:t>top-ranked manufacturers</a:t>
            </a:r>
            <a:r>
              <a:rPr kumimoji="0" lang="en-US" altLang="en-US" sz="1800" b="0" i="0" u="none" strike="noStrike" cap="none" normalizeH="0" baseline="0" dirty="0">
                <a:ln>
                  <a:noFill/>
                </a:ln>
                <a:effectLst/>
              </a:rPr>
              <a:t> in Graph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rPr>
              <a:t>Are </a:t>
            </a:r>
            <a:r>
              <a:rPr kumimoji="0" lang="en-US" altLang="en-US" sz="1800" b="1" i="0" u="none" strike="noStrike" cap="none" normalizeH="0" baseline="0" dirty="0">
                <a:ln>
                  <a:noFill/>
                </a:ln>
                <a:effectLst/>
              </a:rPr>
              <a:t>absent from or low on the risk list</a:t>
            </a:r>
            <a:r>
              <a:rPr kumimoji="0" lang="en-US" altLang="en-US" sz="1800" b="0" i="0" u="none" strike="noStrike" cap="none" normalizeH="0" baseline="0" dirty="0">
                <a:ln>
                  <a:noFill/>
                </a:ln>
                <a:effectLst/>
              </a:rPr>
              <a:t> in Graph 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rPr>
              <a:t>Belong to </a:t>
            </a:r>
            <a:r>
              <a:rPr kumimoji="0" lang="en-US" altLang="en-US" sz="1800" b="1" i="0" u="none" strike="noStrike" cap="none" normalizeH="0" baseline="0" dirty="0">
                <a:ln>
                  <a:noFill/>
                </a:ln>
                <a:effectLst/>
              </a:rPr>
              <a:t>certified commercial aircraft categories</a:t>
            </a:r>
            <a:r>
              <a:rPr kumimoji="0" lang="en-US" altLang="en-US" sz="1800" b="0" i="0" u="none" strike="noStrike" cap="none" normalizeH="0" baseline="0" dirty="0">
                <a:ln>
                  <a:noFill/>
                </a:ln>
                <a:effectLst/>
              </a:rPr>
              <a:t> shown as safest in Graph 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0282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31520"/>
            <a:ext cx="3931920" cy="2103120"/>
          </a:xfrm>
        </p:spPr>
        <p:txBody>
          <a:bodyPr anchor="b" anchorCtr="0"/>
          <a:lstStyle/>
          <a:p>
            <a:r>
              <a:rPr lang="en-US" altLang="zh-CN" dirty="0"/>
              <a:t>Thank You! </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400" y="3108960"/>
            <a:ext cx="3931920" cy="2651760"/>
          </a:xfrm>
        </p:spPr>
        <p:txBody>
          <a:bodyPr>
            <a:normAutofit lnSpcReduction="10000"/>
          </a:bodyPr>
          <a:lstStyle/>
          <a:p>
            <a:r>
              <a:rPr lang="en-US" dirty="0"/>
              <a:t>Feel Free to ask any Questions and broader explanation on a slide to clarify further in Regards to the Analysis Provided. You can also use the below contacts to reach out to me!</a:t>
            </a:r>
          </a:p>
          <a:p>
            <a:r>
              <a:rPr lang="en-US" dirty="0"/>
              <a:t>LinkedIn – Mercy Apondi</a:t>
            </a:r>
          </a:p>
          <a:p>
            <a:r>
              <a:rPr lang="en-US" dirty="0"/>
              <a:t>Number - +254711659105</a:t>
            </a:r>
          </a:p>
          <a:p>
            <a:r>
              <a:rPr lang="en-US" dirty="0"/>
              <a:t>apondimercy11@gmail.com</a:t>
            </a:r>
          </a:p>
        </p:txBody>
      </p:sp>
      <p:pic>
        <p:nvPicPr>
          <p:cNvPr id="12" name="Picture Placeholder 11" descr="Three people having a discussion at a table">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14</a:t>
            </a:fld>
            <a:endParaRPr lang="en-US" altLang="zh-CN" noProof="0" dirty="0"/>
          </a:p>
        </p:txBody>
      </p:sp>
    </p:spTree>
    <p:extLst>
      <p:ext uri="{BB962C8B-B14F-4D97-AF65-F5344CB8AC3E}">
        <p14:creationId xmlns:p14="http://schemas.microsoft.com/office/powerpoint/2010/main" val="77554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914400" y="1060704"/>
            <a:ext cx="7132320" cy="1773936"/>
          </a:xfrm>
        </p:spPr>
        <p:txBody>
          <a:bodyPr/>
          <a:lstStyle/>
          <a:p>
            <a:r>
              <a:rPr lang="en-US" dirty="0"/>
              <a:t>Financial overview</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914400" y="3108960"/>
            <a:ext cx="3291840" cy="2651760"/>
          </a:xfrm>
        </p:spPr>
        <p:txBody>
          <a:bodyPr/>
          <a:lstStyle/>
          <a:p>
            <a:r>
              <a:rPr lang="en-US" dirty="0"/>
              <a:t>Our financial overview reflects a robust and resilient fiscal performance.</a:t>
            </a:r>
          </a:p>
          <a:p>
            <a:r>
              <a:rPr lang="en-US" dirty="0"/>
              <a:t>Key indicators show consistent revenue growth over the past quarter, attributed to strategic cost management and successful marketing.</a:t>
            </a:r>
          </a:p>
        </p:txBody>
      </p:sp>
      <p:sp>
        <p:nvSpPr>
          <p:cNvPr id="44" name="Text Placeholder 43">
            <a:extLst>
              <a:ext uri="{FF2B5EF4-FFF2-40B4-BE49-F238E27FC236}">
                <a16:creationId xmlns:a16="http://schemas.microsoft.com/office/drawing/2014/main" id="{78466807-A2DA-EC5D-ACDE-B83D6F7169EA}"/>
              </a:ext>
            </a:extLst>
          </p:cNvPr>
          <p:cNvSpPr>
            <a:spLocks noGrp="1"/>
          </p:cNvSpPr>
          <p:nvPr>
            <p:ph idx="56"/>
          </p:nvPr>
        </p:nvSpPr>
        <p:spPr>
          <a:xfrm>
            <a:off x="4754880" y="3108960"/>
            <a:ext cx="3291840" cy="2651760"/>
          </a:xfrm>
        </p:spPr>
        <p:txBody>
          <a:bodyPr/>
          <a:lstStyle/>
          <a:p>
            <a:r>
              <a:rPr lang="en-US" dirty="0"/>
              <a:t>Operating margins have improved, signaling operational efficiency, while strengthening our reserves.</a:t>
            </a:r>
          </a:p>
          <a:p>
            <a:r>
              <a:rPr lang="en-US" dirty="0"/>
              <a:t>This underscores our commitment to financial stability, positioning us for sustained growth. </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15</a:t>
            </a:fld>
            <a:endParaRPr lang="en-US" altLang="zh-CN" noProof="0" dirty="0"/>
          </a:p>
        </p:txBody>
      </p:sp>
    </p:spTree>
    <p:extLst>
      <p:ext uri="{BB962C8B-B14F-4D97-AF65-F5344CB8AC3E}">
        <p14:creationId xmlns:p14="http://schemas.microsoft.com/office/powerpoint/2010/main" val="4182148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914400" y="731520"/>
            <a:ext cx="4389120" cy="2103120"/>
          </a:xfrm>
          <a:noFill/>
        </p:spPr>
        <p:txBody>
          <a:bodyPr anchor="b" anchorCtr="0">
            <a:noAutofit/>
          </a:bodyPr>
          <a:lstStyle/>
          <a:p>
            <a:r>
              <a:rPr lang="en-US" dirty="0"/>
              <a:t>Quarterly targets</a:t>
            </a:r>
          </a:p>
        </p:txBody>
      </p:sp>
      <p:sp>
        <p:nvSpPr>
          <p:cNvPr id="10" name="Content Placeholder 9">
            <a:extLst>
              <a:ext uri="{FF2B5EF4-FFF2-40B4-BE49-F238E27FC236}">
                <a16:creationId xmlns:a16="http://schemas.microsoft.com/office/drawing/2014/main" id="{19DA784D-F56F-1224-707E-9F882C4EB8A1}"/>
              </a:ext>
            </a:extLst>
          </p:cNvPr>
          <p:cNvSpPr>
            <a:spLocks noGrp="1"/>
          </p:cNvSpPr>
          <p:nvPr>
            <p:ph idx="14"/>
          </p:nvPr>
        </p:nvSpPr>
        <p:spPr>
          <a:xfrm>
            <a:off x="914400" y="3108960"/>
            <a:ext cx="4389120" cy="1920240"/>
          </a:xfrm>
        </p:spPr>
        <p:txBody>
          <a:bodyPr/>
          <a:lstStyle/>
          <a:p>
            <a:r>
              <a:rPr lang="en-US" dirty="0"/>
              <a:t>Market expansion</a:t>
            </a:r>
          </a:p>
          <a:p>
            <a:r>
              <a:rPr lang="en-US" dirty="0"/>
              <a:t>Product innovation</a:t>
            </a:r>
          </a:p>
          <a:p>
            <a:r>
              <a:rPr lang="en-US" dirty="0"/>
              <a:t>Customer retention</a:t>
            </a:r>
          </a:p>
          <a:p>
            <a:r>
              <a:rPr lang="en-US" dirty="0"/>
              <a:t>Operational efficiency</a:t>
            </a:r>
          </a:p>
        </p:txBody>
      </p:sp>
      <p:graphicFrame>
        <p:nvGraphicFramePr>
          <p:cNvPr id="14" name="Table Placeholder 2">
            <a:extLst>
              <a:ext uri="{FF2B5EF4-FFF2-40B4-BE49-F238E27FC236}">
                <a16:creationId xmlns:a16="http://schemas.microsoft.com/office/drawing/2014/main" id="{1469BF76-5E71-DF2A-4804-7A26E9D95C80}"/>
              </a:ext>
            </a:extLst>
          </p:cNvPr>
          <p:cNvGraphicFramePr>
            <a:graphicFrameLocks noGrp="1"/>
          </p:cNvGraphicFramePr>
          <p:nvPr>
            <p:ph idx="1"/>
            <p:extLst>
              <p:ext uri="{D42A27DB-BD31-4B8C-83A1-F6EECF244321}">
                <p14:modId xmlns:p14="http://schemas.microsoft.com/office/powerpoint/2010/main" val="1903745288"/>
              </p:ext>
            </p:extLst>
          </p:nvPr>
        </p:nvGraphicFramePr>
        <p:xfrm>
          <a:off x="5851525" y="731838"/>
          <a:ext cx="5367528" cy="5116287"/>
        </p:xfrm>
        <a:graphic>
          <a:graphicData uri="http://schemas.openxmlformats.org/drawingml/2006/table">
            <a:tbl>
              <a:tblPr firstRow="1" bandRow="1">
                <a:tableStyleId>{9DCAF9ED-07DC-4A11-8D7F-57B35C25682E}</a:tableStyleId>
              </a:tblPr>
              <a:tblGrid>
                <a:gridCol w="1097791">
                  <a:extLst>
                    <a:ext uri="{9D8B030D-6E8A-4147-A177-3AD203B41FA5}">
                      <a16:colId xmlns:a16="http://schemas.microsoft.com/office/drawing/2014/main" val="30750867"/>
                    </a:ext>
                  </a:extLst>
                </a:gridCol>
                <a:gridCol w="1342294">
                  <a:extLst>
                    <a:ext uri="{9D8B030D-6E8A-4147-A177-3AD203B41FA5}">
                      <a16:colId xmlns:a16="http://schemas.microsoft.com/office/drawing/2014/main" val="1038941322"/>
                    </a:ext>
                  </a:extLst>
                </a:gridCol>
                <a:gridCol w="1555204">
                  <a:extLst>
                    <a:ext uri="{9D8B030D-6E8A-4147-A177-3AD203B41FA5}">
                      <a16:colId xmlns:a16="http://schemas.microsoft.com/office/drawing/2014/main" val="529645500"/>
                    </a:ext>
                  </a:extLst>
                </a:gridCol>
                <a:gridCol w="1372239">
                  <a:extLst>
                    <a:ext uri="{9D8B030D-6E8A-4147-A177-3AD203B41FA5}">
                      <a16:colId xmlns:a16="http://schemas.microsoft.com/office/drawing/2014/main" val="3469610457"/>
                    </a:ext>
                  </a:extLst>
                </a:gridCol>
              </a:tblGrid>
              <a:tr h="1051519">
                <a:tc>
                  <a:txBody>
                    <a:bodyPr/>
                    <a:lstStyle/>
                    <a:p>
                      <a:pPr algn="ctr"/>
                      <a:r>
                        <a:rPr lang="en-US" cap="none" baseline="0" dirty="0"/>
                        <a:t>Quarter</a:t>
                      </a:r>
                    </a:p>
                  </a:txBody>
                  <a:tcPr anchor="ctr"/>
                </a:tc>
                <a:tc>
                  <a:txBody>
                    <a:bodyPr/>
                    <a:lstStyle/>
                    <a:p>
                      <a:pPr algn="ctr"/>
                      <a:r>
                        <a:rPr lang="en-US" cap="none" baseline="0" dirty="0"/>
                        <a:t>Revenue growth (%)</a:t>
                      </a:r>
                    </a:p>
                  </a:txBody>
                  <a:tcPr anchor="ctr"/>
                </a:tc>
                <a:tc>
                  <a:txBody>
                    <a:bodyPr/>
                    <a:lstStyle/>
                    <a:p>
                      <a:pPr algn="ctr"/>
                      <a:r>
                        <a:rPr lang="en-US" cap="none" baseline="0" dirty="0"/>
                        <a:t>Market share increase (%)</a:t>
                      </a:r>
                    </a:p>
                  </a:txBody>
                  <a:tcPr anchor="ctr"/>
                </a:tc>
                <a:tc>
                  <a:txBody>
                    <a:bodyPr/>
                    <a:lstStyle/>
                    <a:p>
                      <a:pPr algn="ctr"/>
                      <a:r>
                        <a:rPr lang="en-US" cap="none" baseline="0" dirty="0"/>
                        <a:t>Customer acquisition</a:t>
                      </a:r>
                    </a:p>
                  </a:txBody>
                  <a:tcPr anchor="ctr"/>
                </a:tc>
                <a:extLst>
                  <a:ext uri="{0D108BD9-81ED-4DB2-BD59-A6C34878D82A}">
                    <a16:rowId xmlns:a16="http://schemas.microsoft.com/office/drawing/2014/main" val="4251432886"/>
                  </a:ext>
                </a:extLst>
              </a:tr>
              <a:tr h="1016192">
                <a:tc>
                  <a:txBody>
                    <a:bodyPr/>
                    <a:lstStyle/>
                    <a:p>
                      <a:pPr algn="ctr"/>
                      <a:r>
                        <a:rPr lang="en-US" dirty="0"/>
                        <a:t>Q1</a:t>
                      </a:r>
                    </a:p>
                  </a:txBody>
                  <a:tcPr anchor="ctr"/>
                </a:tc>
                <a:tc>
                  <a:txBody>
                    <a:bodyPr/>
                    <a:lstStyle/>
                    <a:p>
                      <a:pPr algn="ctr"/>
                      <a:r>
                        <a:rPr lang="en-US" dirty="0"/>
                        <a:t>12</a:t>
                      </a:r>
                    </a:p>
                  </a:txBody>
                  <a:tcPr anchor="ctr"/>
                </a:tc>
                <a:tc>
                  <a:txBody>
                    <a:bodyPr/>
                    <a:lstStyle/>
                    <a:p>
                      <a:pPr algn="ctr"/>
                      <a:r>
                        <a:rPr lang="en-US" dirty="0"/>
                        <a:t>2</a:t>
                      </a:r>
                    </a:p>
                  </a:txBody>
                  <a:tcPr anchor="ctr"/>
                </a:tc>
                <a:tc>
                  <a:txBody>
                    <a:bodyPr/>
                    <a:lstStyle/>
                    <a:p>
                      <a:pPr algn="ctr"/>
                      <a:r>
                        <a:rPr lang="en-US" dirty="0"/>
                        <a:t>500</a:t>
                      </a:r>
                    </a:p>
                  </a:txBody>
                  <a:tcPr anchor="ctr"/>
                </a:tc>
                <a:extLst>
                  <a:ext uri="{0D108BD9-81ED-4DB2-BD59-A6C34878D82A}">
                    <a16:rowId xmlns:a16="http://schemas.microsoft.com/office/drawing/2014/main" val="360240625"/>
                  </a:ext>
                </a:extLst>
              </a:tr>
              <a:tr h="1016192">
                <a:tc>
                  <a:txBody>
                    <a:bodyPr/>
                    <a:lstStyle/>
                    <a:p>
                      <a:pPr algn="ctr"/>
                      <a:r>
                        <a:rPr lang="en-US" dirty="0"/>
                        <a:t>Q2</a:t>
                      </a:r>
                    </a:p>
                  </a:txBody>
                  <a:tcPr anchor="ctr"/>
                </a:tc>
                <a:tc>
                  <a:txBody>
                    <a:bodyPr/>
                    <a:lstStyle/>
                    <a:p>
                      <a:pPr algn="ctr"/>
                      <a:r>
                        <a:rPr lang="en-US" dirty="0"/>
                        <a:t>15</a:t>
                      </a:r>
                    </a:p>
                  </a:txBody>
                  <a:tcPr anchor="ctr"/>
                </a:tc>
                <a:tc>
                  <a:txBody>
                    <a:bodyPr/>
                    <a:lstStyle/>
                    <a:p>
                      <a:pPr algn="ctr"/>
                      <a:r>
                        <a:rPr lang="en-US" dirty="0"/>
                        <a:t>3</a:t>
                      </a:r>
                    </a:p>
                  </a:txBody>
                  <a:tcPr anchor="ctr"/>
                </a:tc>
                <a:tc>
                  <a:txBody>
                    <a:bodyPr/>
                    <a:lstStyle/>
                    <a:p>
                      <a:pPr algn="ctr"/>
                      <a:r>
                        <a:rPr lang="en-US" dirty="0"/>
                        <a:t>600</a:t>
                      </a:r>
                    </a:p>
                  </a:txBody>
                  <a:tcPr anchor="ctr"/>
                </a:tc>
                <a:extLst>
                  <a:ext uri="{0D108BD9-81ED-4DB2-BD59-A6C34878D82A}">
                    <a16:rowId xmlns:a16="http://schemas.microsoft.com/office/drawing/2014/main" val="2762393470"/>
                  </a:ext>
                </a:extLst>
              </a:tr>
              <a:tr h="1016192">
                <a:tc>
                  <a:txBody>
                    <a:bodyPr/>
                    <a:lstStyle/>
                    <a:p>
                      <a:pPr algn="ctr"/>
                      <a:r>
                        <a:rPr lang="en-US" dirty="0"/>
                        <a:t>Q3</a:t>
                      </a:r>
                    </a:p>
                  </a:txBody>
                  <a:tcPr anchor="ctr"/>
                </a:tc>
                <a:tc>
                  <a:txBody>
                    <a:bodyPr/>
                    <a:lstStyle/>
                    <a:p>
                      <a:pPr algn="ctr"/>
                      <a:r>
                        <a:rPr lang="en-US" dirty="0"/>
                        <a:t>18</a:t>
                      </a:r>
                    </a:p>
                  </a:txBody>
                  <a:tcPr anchor="ctr"/>
                </a:tc>
                <a:tc>
                  <a:txBody>
                    <a:bodyPr/>
                    <a:lstStyle/>
                    <a:p>
                      <a:pPr algn="ctr"/>
                      <a:r>
                        <a:rPr lang="en-US" dirty="0"/>
                        <a:t>4</a:t>
                      </a:r>
                    </a:p>
                  </a:txBody>
                  <a:tcPr anchor="ctr"/>
                </a:tc>
                <a:tc>
                  <a:txBody>
                    <a:bodyPr/>
                    <a:lstStyle/>
                    <a:p>
                      <a:pPr algn="ctr"/>
                      <a:r>
                        <a:rPr lang="en-US" dirty="0"/>
                        <a:t>700</a:t>
                      </a:r>
                    </a:p>
                  </a:txBody>
                  <a:tcPr anchor="ctr"/>
                </a:tc>
                <a:extLst>
                  <a:ext uri="{0D108BD9-81ED-4DB2-BD59-A6C34878D82A}">
                    <a16:rowId xmlns:a16="http://schemas.microsoft.com/office/drawing/2014/main" val="1311364400"/>
                  </a:ext>
                </a:extLst>
              </a:tr>
              <a:tr h="1016192">
                <a:tc>
                  <a:txBody>
                    <a:bodyPr/>
                    <a:lstStyle/>
                    <a:p>
                      <a:pPr algn="ctr"/>
                      <a:r>
                        <a:rPr lang="en-US" dirty="0"/>
                        <a:t>Q4</a:t>
                      </a:r>
                    </a:p>
                  </a:txBody>
                  <a:tcPr anchor="ctr"/>
                </a:tc>
                <a:tc>
                  <a:txBody>
                    <a:bodyPr/>
                    <a:lstStyle/>
                    <a:p>
                      <a:pPr algn="ctr"/>
                      <a:r>
                        <a:rPr lang="en-US" dirty="0"/>
                        <a:t>20</a:t>
                      </a:r>
                    </a:p>
                  </a:txBody>
                  <a:tcPr anchor="ctr"/>
                </a:tc>
                <a:tc>
                  <a:txBody>
                    <a:bodyPr/>
                    <a:lstStyle/>
                    <a:p>
                      <a:pPr algn="ctr"/>
                      <a:r>
                        <a:rPr lang="en-US" dirty="0"/>
                        <a:t>5</a:t>
                      </a:r>
                    </a:p>
                  </a:txBody>
                  <a:tcPr anchor="ctr"/>
                </a:tc>
                <a:tc>
                  <a:txBody>
                    <a:bodyPr/>
                    <a:lstStyle/>
                    <a:p>
                      <a:pPr algn="ctr"/>
                      <a:r>
                        <a:rPr lang="en-US" dirty="0"/>
                        <a:t>800</a:t>
                      </a:r>
                    </a:p>
                  </a:txBody>
                  <a:tcPr anchor="ctr"/>
                </a:tc>
                <a:extLst>
                  <a:ext uri="{0D108BD9-81ED-4DB2-BD59-A6C34878D82A}">
                    <a16:rowId xmlns:a16="http://schemas.microsoft.com/office/drawing/2014/main" val="2526263980"/>
                  </a:ext>
                </a:extLst>
              </a:tr>
            </a:tbl>
          </a:graphicData>
        </a:graphic>
      </p:graphicFrame>
      <p:sp>
        <p:nvSpPr>
          <p:cNvPr id="3" name="Slide Number Placeholder 2">
            <a:extLst>
              <a:ext uri="{FF2B5EF4-FFF2-40B4-BE49-F238E27FC236}">
                <a16:creationId xmlns:a16="http://schemas.microsoft.com/office/drawing/2014/main" id="{ADDFE8A8-4537-F7A1-3BF9-834AEFE3EA1A}"/>
              </a:ext>
            </a:extLst>
          </p:cNvPr>
          <p:cNvSpPr>
            <a:spLocks noGrp="1"/>
          </p:cNvSpPr>
          <p:nvPr>
            <p:ph type="sldNum" sz="quarter" idx="12"/>
          </p:nvPr>
        </p:nvSpPr>
        <p:spPr/>
        <p:txBody>
          <a:bodyPr/>
          <a:lstStyle/>
          <a:p>
            <a:fld id="{CBD12358-51D2-46B3-9BDE-DF29528B9454}" type="slidenum">
              <a:rPr lang="en-US" smtClean="0"/>
              <a:t>16</a:t>
            </a:fld>
            <a:endParaRPr lang="en-US" dirty="0"/>
          </a:p>
        </p:txBody>
      </p:sp>
    </p:spTree>
    <p:extLst>
      <p:ext uri="{BB962C8B-B14F-4D97-AF65-F5344CB8AC3E}">
        <p14:creationId xmlns:p14="http://schemas.microsoft.com/office/powerpoint/2010/main" val="4259977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914400" y="731520"/>
            <a:ext cx="7671816" cy="2103120"/>
          </a:xfrm>
          <a:noFill/>
        </p:spPr>
        <p:txBody>
          <a:bodyPr anchor="b" anchorCtr="0">
            <a:noAutofit/>
          </a:bodyPr>
          <a:lstStyle/>
          <a:p>
            <a:r>
              <a:rPr lang="en-US" dirty="0"/>
              <a:t>Financial snapshot</a:t>
            </a:r>
          </a:p>
        </p:txBody>
      </p:sp>
      <p:graphicFrame>
        <p:nvGraphicFramePr>
          <p:cNvPr id="16" name="Table Placeholder 3">
            <a:extLst>
              <a:ext uri="{FF2B5EF4-FFF2-40B4-BE49-F238E27FC236}">
                <a16:creationId xmlns:a16="http://schemas.microsoft.com/office/drawing/2014/main" id="{6CB67956-A6C3-FCDF-EC78-F79D90449E96}"/>
              </a:ext>
            </a:extLst>
          </p:cNvPr>
          <p:cNvGraphicFramePr>
            <a:graphicFrameLocks noGrp="1"/>
          </p:cNvGraphicFramePr>
          <p:nvPr>
            <p:ph idx="14"/>
            <p:extLst>
              <p:ext uri="{D42A27DB-BD31-4B8C-83A1-F6EECF244321}">
                <p14:modId xmlns:p14="http://schemas.microsoft.com/office/powerpoint/2010/main" val="3728026106"/>
              </p:ext>
            </p:extLst>
          </p:nvPr>
        </p:nvGraphicFramePr>
        <p:xfrm>
          <a:off x="914400" y="3200400"/>
          <a:ext cx="10149840" cy="2834640"/>
        </p:xfrm>
        <a:graphic>
          <a:graphicData uri="http://schemas.openxmlformats.org/drawingml/2006/table">
            <a:tbl>
              <a:tblPr firstRow="1" bandRow="1">
                <a:tableStyleId>{9DCAF9ED-07DC-4A11-8D7F-57B35C25682E}</a:tableStyleId>
              </a:tblPr>
              <a:tblGrid>
                <a:gridCol w="2537460">
                  <a:extLst>
                    <a:ext uri="{9D8B030D-6E8A-4147-A177-3AD203B41FA5}">
                      <a16:colId xmlns:a16="http://schemas.microsoft.com/office/drawing/2014/main" val="130956065"/>
                    </a:ext>
                  </a:extLst>
                </a:gridCol>
                <a:gridCol w="2537460">
                  <a:extLst>
                    <a:ext uri="{9D8B030D-6E8A-4147-A177-3AD203B41FA5}">
                      <a16:colId xmlns:a16="http://schemas.microsoft.com/office/drawing/2014/main" val="2749965458"/>
                    </a:ext>
                  </a:extLst>
                </a:gridCol>
                <a:gridCol w="2537460">
                  <a:extLst>
                    <a:ext uri="{9D8B030D-6E8A-4147-A177-3AD203B41FA5}">
                      <a16:colId xmlns:a16="http://schemas.microsoft.com/office/drawing/2014/main" val="2116711163"/>
                    </a:ext>
                  </a:extLst>
                </a:gridCol>
                <a:gridCol w="2537460">
                  <a:extLst>
                    <a:ext uri="{9D8B030D-6E8A-4147-A177-3AD203B41FA5}">
                      <a16:colId xmlns:a16="http://schemas.microsoft.com/office/drawing/2014/main" val="1186885001"/>
                    </a:ext>
                  </a:extLst>
                </a:gridCol>
              </a:tblGrid>
              <a:tr h="472440">
                <a:tc>
                  <a:txBody>
                    <a:bodyPr/>
                    <a:lstStyle/>
                    <a:p>
                      <a:pPr algn="ctr"/>
                      <a:r>
                        <a:rPr lang="en-US" dirty="0">
                          <a:latin typeface="+mn-lt"/>
                        </a:rPr>
                        <a:t>Metric</a:t>
                      </a:r>
                    </a:p>
                  </a:txBody>
                  <a:tcPr anchor="ctr"/>
                </a:tc>
                <a:tc>
                  <a:txBody>
                    <a:bodyPr/>
                    <a:lstStyle/>
                    <a:p>
                      <a:pPr algn="ctr"/>
                      <a:r>
                        <a:rPr lang="en-US" dirty="0">
                          <a:latin typeface="+mn-lt"/>
                        </a:rPr>
                        <a:t>Current value</a:t>
                      </a:r>
                    </a:p>
                  </a:txBody>
                  <a:tcPr anchor="ctr"/>
                </a:tc>
                <a:tc>
                  <a:txBody>
                    <a:bodyPr/>
                    <a:lstStyle/>
                    <a:p>
                      <a:pPr algn="ctr"/>
                      <a:r>
                        <a:rPr lang="en-US" dirty="0">
                          <a:latin typeface="+mn-lt"/>
                        </a:rPr>
                        <a:t>Previous quarter</a:t>
                      </a:r>
                    </a:p>
                  </a:txBody>
                  <a:tcPr anchor="ctr"/>
                </a:tc>
                <a:tc>
                  <a:txBody>
                    <a:bodyPr/>
                    <a:lstStyle/>
                    <a:p>
                      <a:pPr algn="ctr"/>
                      <a:r>
                        <a:rPr lang="en-US" dirty="0">
                          <a:latin typeface="+mn-lt"/>
                        </a:rPr>
                        <a:t>Change (%)</a:t>
                      </a:r>
                    </a:p>
                  </a:txBody>
                  <a:tcPr anchor="ctr"/>
                </a:tc>
                <a:extLst>
                  <a:ext uri="{0D108BD9-81ED-4DB2-BD59-A6C34878D82A}">
                    <a16:rowId xmlns:a16="http://schemas.microsoft.com/office/drawing/2014/main" val="3741017008"/>
                  </a:ext>
                </a:extLst>
              </a:tr>
              <a:tr h="472440">
                <a:tc>
                  <a:txBody>
                    <a:bodyPr/>
                    <a:lstStyle/>
                    <a:p>
                      <a:pPr algn="ctr"/>
                      <a:r>
                        <a:rPr lang="en-US" dirty="0">
                          <a:latin typeface="+mn-lt"/>
                        </a:rPr>
                        <a:t>Revenue</a:t>
                      </a:r>
                    </a:p>
                  </a:txBody>
                  <a:tcPr anchor="ctr"/>
                </a:tc>
                <a:tc>
                  <a:txBody>
                    <a:bodyPr/>
                    <a:lstStyle/>
                    <a:p>
                      <a:pPr algn="ctr"/>
                      <a:r>
                        <a:rPr lang="en-US" dirty="0">
                          <a:latin typeface="+mn-lt"/>
                        </a:rPr>
                        <a:t>$2,500,000</a:t>
                      </a:r>
                    </a:p>
                  </a:txBody>
                  <a:tcPr anchor="ctr"/>
                </a:tc>
                <a:tc>
                  <a:txBody>
                    <a:bodyPr/>
                    <a:lstStyle/>
                    <a:p>
                      <a:pPr algn="ctr"/>
                      <a:r>
                        <a:rPr lang="en-US" dirty="0">
                          <a:latin typeface="+mn-lt"/>
                        </a:rPr>
                        <a:t>$2,200,000</a:t>
                      </a:r>
                    </a:p>
                  </a:txBody>
                  <a:tcPr anchor="ctr"/>
                </a:tc>
                <a:tc>
                  <a:txBody>
                    <a:bodyPr/>
                    <a:lstStyle/>
                    <a:p>
                      <a:pPr algn="ctr"/>
                      <a:r>
                        <a:rPr lang="en-US" dirty="0">
                          <a:latin typeface="+mn-lt"/>
                        </a:rPr>
                        <a:t>+14%</a:t>
                      </a:r>
                    </a:p>
                  </a:txBody>
                  <a:tcPr anchor="ctr"/>
                </a:tc>
                <a:extLst>
                  <a:ext uri="{0D108BD9-81ED-4DB2-BD59-A6C34878D82A}">
                    <a16:rowId xmlns:a16="http://schemas.microsoft.com/office/drawing/2014/main" val="511888340"/>
                  </a:ext>
                </a:extLst>
              </a:tr>
              <a:tr h="472440">
                <a:tc>
                  <a:txBody>
                    <a:bodyPr/>
                    <a:lstStyle/>
                    <a:p>
                      <a:pPr algn="ctr"/>
                      <a:r>
                        <a:rPr lang="en-US" dirty="0">
                          <a:latin typeface="+mn-lt"/>
                        </a:rPr>
                        <a:t>Operating expenses</a:t>
                      </a:r>
                    </a:p>
                  </a:txBody>
                  <a:tcPr anchor="ctr"/>
                </a:tc>
                <a:tc>
                  <a:txBody>
                    <a:bodyPr/>
                    <a:lstStyle/>
                    <a:p>
                      <a:pPr algn="ctr"/>
                      <a:r>
                        <a:rPr lang="en-US" dirty="0">
                          <a:latin typeface="+mn-lt"/>
                        </a:rPr>
                        <a:t>$1,200,000</a:t>
                      </a:r>
                    </a:p>
                  </a:txBody>
                  <a:tcPr anchor="ctr"/>
                </a:tc>
                <a:tc>
                  <a:txBody>
                    <a:bodyPr/>
                    <a:lstStyle/>
                    <a:p>
                      <a:pPr algn="ctr"/>
                      <a:r>
                        <a:rPr lang="en-US" dirty="0">
                          <a:latin typeface="+mn-lt"/>
                        </a:rPr>
                        <a:t>$1,400,000</a:t>
                      </a:r>
                    </a:p>
                  </a:txBody>
                  <a:tcPr anchor="ctr"/>
                </a:tc>
                <a:tc>
                  <a:txBody>
                    <a:bodyPr/>
                    <a:lstStyle/>
                    <a:p>
                      <a:pPr algn="ctr"/>
                      <a:r>
                        <a:rPr lang="en-US" dirty="0">
                          <a:latin typeface="+mn-lt"/>
                        </a:rPr>
                        <a:t>-14%</a:t>
                      </a:r>
                    </a:p>
                  </a:txBody>
                  <a:tcPr anchor="ctr"/>
                </a:tc>
                <a:extLst>
                  <a:ext uri="{0D108BD9-81ED-4DB2-BD59-A6C34878D82A}">
                    <a16:rowId xmlns:a16="http://schemas.microsoft.com/office/drawing/2014/main" val="3937089168"/>
                  </a:ext>
                </a:extLst>
              </a:tr>
              <a:tr h="472440">
                <a:tc>
                  <a:txBody>
                    <a:bodyPr/>
                    <a:lstStyle/>
                    <a:p>
                      <a:pPr algn="ctr"/>
                      <a:r>
                        <a:rPr lang="en-US" dirty="0">
                          <a:latin typeface="+mn-lt"/>
                        </a:rPr>
                        <a:t>Net profit</a:t>
                      </a:r>
                    </a:p>
                  </a:txBody>
                  <a:tcPr anchor="ctr"/>
                </a:tc>
                <a:tc>
                  <a:txBody>
                    <a:bodyPr/>
                    <a:lstStyle/>
                    <a:p>
                      <a:pPr algn="ctr"/>
                      <a:r>
                        <a:rPr lang="en-US" dirty="0">
                          <a:latin typeface="+mn-lt"/>
                        </a:rPr>
                        <a:t>$1,000,000</a:t>
                      </a:r>
                    </a:p>
                  </a:txBody>
                  <a:tcPr anchor="ctr"/>
                </a:tc>
                <a:tc>
                  <a:txBody>
                    <a:bodyPr/>
                    <a:lstStyle/>
                    <a:p>
                      <a:pPr algn="ctr"/>
                      <a:r>
                        <a:rPr lang="en-US" dirty="0">
                          <a:latin typeface="+mn-lt"/>
                        </a:rPr>
                        <a:t>$800,000</a:t>
                      </a:r>
                    </a:p>
                  </a:txBody>
                  <a:tcPr anchor="ctr"/>
                </a:tc>
                <a:tc>
                  <a:txBody>
                    <a:bodyPr/>
                    <a:lstStyle/>
                    <a:p>
                      <a:pPr algn="ctr"/>
                      <a:r>
                        <a:rPr lang="en-US" dirty="0">
                          <a:latin typeface="+mn-lt"/>
                        </a:rPr>
                        <a:t>+25%</a:t>
                      </a:r>
                    </a:p>
                  </a:txBody>
                  <a:tcPr anchor="ctr"/>
                </a:tc>
                <a:extLst>
                  <a:ext uri="{0D108BD9-81ED-4DB2-BD59-A6C34878D82A}">
                    <a16:rowId xmlns:a16="http://schemas.microsoft.com/office/drawing/2014/main" val="1031597798"/>
                  </a:ext>
                </a:extLst>
              </a:tr>
              <a:tr h="472440">
                <a:tc>
                  <a:txBody>
                    <a:bodyPr/>
                    <a:lstStyle/>
                    <a:p>
                      <a:pPr algn="ctr"/>
                      <a:r>
                        <a:rPr lang="en-US" dirty="0">
                          <a:latin typeface="+mn-lt"/>
                        </a:rPr>
                        <a:t>Operating margin</a:t>
                      </a:r>
                    </a:p>
                  </a:txBody>
                  <a:tcPr anchor="ctr"/>
                </a:tc>
                <a:tc>
                  <a:txBody>
                    <a:bodyPr/>
                    <a:lstStyle/>
                    <a:p>
                      <a:pPr algn="ctr"/>
                      <a:r>
                        <a:rPr lang="en-US" dirty="0">
                          <a:latin typeface="+mn-lt"/>
                        </a:rPr>
                        <a:t>40%</a:t>
                      </a:r>
                    </a:p>
                  </a:txBody>
                  <a:tcPr anchor="ctr"/>
                </a:tc>
                <a:tc>
                  <a:txBody>
                    <a:bodyPr/>
                    <a:lstStyle/>
                    <a:p>
                      <a:pPr algn="ctr"/>
                      <a:r>
                        <a:rPr lang="en-US" dirty="0">
                          <a:latin typeface="+mn-lt"/>
                        </a:rPr>
                        <a:t>36%</a:t>
                      </a:r>
                    </a:p>
                  </a:txBody>
                  <a:tcPr anchor="ctr"/>
                </a:tc>
                <a:tc>
                  <a:txBody>
                    <a:bodyPr/>
                    <a:lstStyle/>
                    <a:p>
                      <a:pPr algn="ctr"/>
                      <a:r>
                        <a:rPr lang="en-US" dirty="0">
                          <a:latin typeface="+mn-lt"/>
                        </a:rPr>
                        <a:t>+4%</a:t>
                      </a:r>
                    </a:p>
                  </a:txBody>
                  <a:tcPr anchor="ctr"/>
                </a:tc>
                <a:extLst>
                  <a:ext uri="{0D108BD9-81ED-4DB2-BD59-A6C34878D82A}">
                    <a16:rowId xmlns:a16="http://schemas.microsoft.com/office/drawing/2014/main" val="1194376521"/>
                  </a:ext>
                </a:extLst>
              </a:tr>
              <a:tr h="472440">
                <a:tc>
                  <a:txBody>
                    <a:bodyPr/>
                    <a:lstStyle/>
                    <a:p>
                      <a:pPr algn="ctr"/>
                      <a:r>
                        <a:rPr lang="en-US" dirty="0">
                          <a:latin typeface="+mn-lt"/>
                        </a:rPr>
                        <a:t>Cash reserves</a:t>
                      </a:r>
                    </a:p>
                  </a:txBody>
                  <a:tcPr anchor="ctr"/>
                </a:tc>
                <a:tc>
                  <a:txBody>
                    <a:bodyPr/>
                    <a:lstStyle/>
                    <a:p>
                      <a:pPr algn="ctr"/>
                      <a:r>
                        <a:rPr lang="en-US" dirty="0">
                          <a:latin typeface="+mn-lt"/>
                        </a:rPr>
                        <a:t>$5,000,000</a:t>
                      </a:r>
                    </a:p>
                  </a:txBody>
                  <a:tcPr anchor="ctr"/>
                </a:tc>
                <a:tc>
                  <a:txBody>
                    <a:bodyPr/>
                    <a:lstStyle/>
                    <a:p>
                      <a:pPr algn="ctr"/>
                      <a:r>
                        <a:rPr lang="en-US" dirty="0">
                          <a:latin typeface="+mn-lt"/>
                        </a:rPr>
                        <a:t>$4,500,000</a:t>
                      </a:r>
                    </a:p>
                  </a:txBody>
                  <a:tcPr anchor="ctr"/>
                </a:tc>
                <a:tc>
                  <a:txBody>
                    <a:bodyPr/>
                    <a:lstStyle/>
                    <a:p>
                      <a:pPr algn="ctr"/>
                      <a:r>
                        <a:rPr lang="en-US" dirty="0">
                          <a:latin typeface="+mn-lt"/>
                        </a:rPr>
                        <a:t>+11%</a:t>
                      </a:r>
                    </a:p>
                  </a:txBody>
                  <a:tcPr anchor="ctr"/>
                </a:tc>
                <a:extLst>
                  <a:ext uri="{0D108BD9-81ED-4DB2-BD59-A6C34878D82A}">
                    <a16:rowId xmlns:a16="http://schemas.microsoft.com/office/drawing/2014/main" val="1918266800"/>
                  </a:ext>
                </a:extLst>
              </a:tr>
            </a:tbl>
          </a:graphicData>
        </a:graphic>
      </p:graphicFrame>
      <p:sp>
        <p:nvSpPr>
          <p:cNvPr id="3" name="Slide Number Placeholder 2">
            <a:extLst>
              <a:ext uri="{FF2B5EF4-FFF2-40B4-BE49-F238E27FC236}">
                <a16:creationId xmlns:a16="http://schemas.microsoft.com/office/drawing/2014/main" id="{C5231D8C-5C7D-BFD9-19A4-7628C1400A37}"/>
              </a:ext>
            </a:extLst>
          </p:cNvPr>
          <p:cNvSpPr>
            <a:spLocks noGrp="1"/>
          </p:cNvSpPr>
          <p:nvPr>
            <p:ph type="sldNum" sz="quarter" idx="12"/>
          </p:nvPr>
        </p:nvSpPr>
        <p:spPr/>
        <p:txBody>
          <a:bodyPr/>
          <a:lstStyle/>
          <a:p>
            <a:fld id="{CBD12358-51D2-46B3-9BDE-DF29528B9454}" type="slidenum">
              <a:rPr lang="en-US" smtClean="0"/>
              <a:t>17</a:t>
            </a:fld>
            <a:endParaRPr lang="en-US" dirty="0"/>
          </a:p>
        </p:txBody>
      </p:sp>
    </p:spTree>
    <p:extLst>
      <p:ext uri="{BB962C8B-B14F-4D97-AF65-F5344CB8AC3E}">
        <p14:creationId xmlns:p14="http://schemas.microsoft.com/office/powerpoint/2010/main" val="3604630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EC29-2F05-D7E4-A266-08C74BE4F5F8}"/>
              </a:ext>
            </a:extLst>
          </p:cNvPr>
          <p:cNvSpPr>
            <a:spLocks noGrp="1"/>
          </p:cNvSpPr>
          <p:nvPr>
            <p:ph type="title"/>
          </p:nvPr>
        </p:nvSpPr>
        <p:spPr>
          <a:xfrm>
            <a:off x="6710510" y="2016579"/>
            <a:ext cx="4441188" cy="2775857"/>
          </a:xfrm>
        </p:spPr>
        <p:txBody>
          <a:bodyPr/>
          <a:lstStyle/>
          <a:p>
            <a:r>
              <a:rPr lang="en-US" dirty="0"/>
              <a:t>Innovative solutions</a:t>
            </a:r>
          </a:p>
        </p:txBody>
      </p:sp>
      <p:pic>
        <p:nvPicPr>
          <p:cNvPr id="5" name="Picture Placeholder 4" descr="A person looking at a person who is looking at a computer screen">
            <a:extLst>
              <a:ext uri="{FF2B5EF4-FFF2-40B4-BE49-F238E27FC236}">
                <a16:creationId xmlns:a16="http://schemas.microsoft.com/office/drawing/2014/main" id="{867EED95-1785-2CFF-AB72-C7852C4B1E15}"/>
              </a:ext>
            </a:extLst>
          </p:cNvPr>
          <p:cNvPicPr>
            <a:picLocks noGrp="1" noChangeAspect="1"/>
          </p:cNvPicPr>
          <p:nvPr>
            <p:ph type="pic" sz="quarter" idx="48"/>
          </p:nvPr>
        </p:nvPicPr>
        <p:blipFill>
          <a:blip r:embed="rId2"/>
          <a:srcRect t="11651" b="11651"/>
          <a:stretch/>
        </p:blipFill>
        <p:spPr>
          <a:xfrm>
            <a:off x="914400" y="539496"/>
            <a:ext cx="5025207" cy="5779008"/>
          </a:xfrm>
        </p:spPr>
      </p:pic>
    </p:spTree>
    <p:extLst>
      <p:ext uri="{BB962C8B-B14F-4D97-AF65-F5344CB8AC3E}">
        <p14:creationId xmlns:p14="http://schemas.microsoft.com/office/powerpoint/2010/main" val="1148227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3465576" y="1499616"/>
            <a:ext cx="7955280" cy="1335024"/>
          </a:xfrm>
        </p:spPr>
        <p:txBody>
          <a:bodyPr anchor="b" anchorCtr="0"/>
          <a:lstStyle/>
          <a:p>
            <a:r>
              <a:rPr lang="en-US" dirty="0"/>
              <a:t>Future initiatives</a:t>
            </a:r>
          </a:p>
        </p:txBody>
      </p:sp>
      <p:sp>
        <p:nvSpPr>
          <p:cNvPr id="14" name="Text Placeholder 13">
            <a:extLst>
              <a:ext uri="{FF2B5EF4-FFF2-40B4-BE49-F238E27FC236}">
                <a16:creationId xmlns:a16="http://schemas.microsoft.com/office/drawing/2014/main" id="{C78180D0-1AB6-8416-0EB1-10648E1A6050}"/>
              </a:ext>
            </a:extLst>
          </p:cNvPr>
          <p:cNvSpPr>
            <a:spLocks noGrp="1"/>
          </p:cNvSpPr>
          <p:nvPr>
            <p:ph idx="14"/>
          </p:nvPr>
        </p:nvSpPr>
        <p:spPr>
          <a:xfrm>
            <a:off x="3465576" y="3108960"/>
            <a:ext cx="4572000" cy="3108960"/>
          </a:xfrm>
        </p:spPr>
        <p:txBody>
          <a:bodyPr/>
          <a:lstStyle/>
          <a:p>
            <a:r>
              <a:rPr lang="en-US" dirty="0"/>
              <a:t>Product enhancement. Introduce regular updates and features to enhance product offerings.</a:t>
            </a:r>
          </a:p>
          <a:p>
            <a:r>
              <a:rPr lang="en-US" dirty="0"/>
              <a:t>Technology integration. Explore emerging technologies for potential integration into our operations.</a:t>
            </a:r>
          </a:p>
          <a:p>
            <a:r>
              <a:rPr lang="en-US" dirty="0"/>
              <a:t>Collaborative partnerships. Foster collaborations with tech innovators and industry leaders to drive innovation.</a:t>
            </a:r>
          </a:p>
        </p:txBody>
      </p:sp>
      <p:sp>
        <p:nvSpPr>
          <p:cNvPr id="13" name="Text Placeholder 12">
            <a:extLst>
              <a:ext uri="{FF2B5EF4-FFF2-40B4-BE49-F238E27FC236}">
                <a16:creationId xmlns:a16="http://schemas.microsoft.com/office/drawing/2014/main" id="{DEB5763E-8BC0-F6C3-3814-6649A828C000}"/>
              </a:ext>
            </a:extLst>
          </p:cNvPr>
          <p:cNvSpPr>
            <a:spLocks noGrp="1"/>
          </p:cNvSpPr>
          <p:nvPr>
            <p:ph idx="1"/>
          </p:nvPr>
        </p:nvSpPr>
        <p:spPr>
          <a:xfrm>
            <a:off x="8229600" y="3108960"/>
            <a:ext cx="3017520" cy="3108960"/>
          </a:xfrm>
        </p:spPr>
        <p:txBody>
          <a:bodyPr/>
          <a:lstStyle/>
          <a:p>
            <a:r>
              <a:rPr lang="en-US" dirty="0"/>
              <a:t>Green supply chain</a:t>
            </a:r>
          </a:p>
          <a:p>
            <a:r>
              <a:rPr lang="en-US" dirty="0"/>
              <a:t>Reduced carbon footprint</a:t>
            </a:r>
          </a:p>
          <a:p>
            <a:r>
              <a:rPr lang="en-US" dirty="0"/>
              <a:t>Waste reduction</a:t>
            </a:r>
          </a:p>
          <a:p>
            <a:r>
              <a:rPr lang="en-US" dirty="0"/>
              <a:t>Water conservation</a:t>
            </a:r>
          </a:p>
        </p:txBody>
      </p:sp>
      <p:sp>
        <p:nvSpPr>
          <p:cNvPr id="2" name="Slide Number Placeholder 1">
            <a:extLst>
              <a:ext uri="{FF2B5EF4-FFF2-40B4-BE49-F238E27FC236}">
                <a16:creationId xmlns:a16="http://schemas.microsoft.com/office/drawing/2014/main" id="{B2E4D147-B48C-ADE3-3FEF-627D467699A2}"/>
              </a:ext>
            </a:extLst>
          </p:cNvPr>
          <p:cNvSpPr>
            <a:spLocks noGrp="1"/>
          </p:cNvSpPr>
          <p:nvPr>
            <p:ph type="sldNum" sz="quarter" idx="40"/>
          </p:nvPr>
        </p:nvSpPr>
        <p:spPr>
          <a:xfrm>
            <a:off x="11194169" y="6217920"/>
            <a:ext cx="458592" cy="365125"/>
          </a:xfrm>
        </p:spPr>
        <p:txBody>
          <a:bodyPr/>
          <a:lstStyle/>
          <a:p>
            <a:fld id="{47FEACEE-25B4-4A2D-B147-27296E36371D}" type="slidenum">
              <a:rPr lang="en-US" altLang="zh-CN" noProof="0" smtClean="0"/>
              <a:pPr/>
              <a:t>19</a:t>
            </a:fld>
            <a:endParaRPr lang="en-US" altLang="zh-CN" noProof="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altLang="zh-CN" sz="1200" u="none" strike="noStrike" kern="1200" cap="none" spc="0" normalizeH="0" baseline="0" dirty="0">
              <a:ln>
                <a:noFill/>
              </a:ln>
              <a:solidFill>
                <a:schemeClr val="bg1"/>
              </a:solidFill>
              <a:effectLst/>
              <a:uLnTx/>
              <a:uFillTx/>
            </a:endParaRPr>
          </a:p>
        </p:txBody>
      </p:sp>
    </p:spTree>
    <p:extLst>
      <p:ext uri="{BB962C8B-B14F-4D97-AF65-F5344CB8AC3E}">
        <p14:creationId xmlns:p14="http://schemas.microsoft.com/office/powerpoint/2010/main" val="2519727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Mirjam Nilsson</a:t>
            </a:r>
          </a:p>
          <a:p>
            <a:pPr lvl="0"/>
            <a:r>
              <a:rPr lang="en-US" dirty="0"/>
              <a:t>mirjam@contoso.com</a:t>
            </a:r>
          </a:p>
          <a:p>
            <a:pPr lvl="0"/>
            <a:r>
              <a:rPr lang="en-US" dirty="0"/>
              <a:t>www.contoso.com</a:t>
            </a:r>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0009351-EDD4-484E-ACD6-D50CCB13763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91</TotalTime>
  <Words>1076</Words>
  <Application>Microsoft Office PowerPoint</Application>
  <PresentationFormat>Widescreen</PresentationFormat>
  <Paragraphs>173</Paragraphs>
  <Slides>20</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等线</vt:lpstr>
      <vt:lpstr>Abadi</vt:lpstr>
      <vt:lpstr>Arial</vt:lpstr>
      <vt:lpstr>Calibri</vt:lpstr>
      <vt:lpstr>Posterama</vt:lpstr>
      <vt:lpstr>Posterama Text SemiBold</vt:lpstr>
      <vt:lpstr>Custom</vt:lpstr>
      <vt:lpstr>New Aviation Fleet Acquisition Risk Analysis</vt:lpstr>
      <vt:lpstr>BEGINNING</vt:lpstr>
      <vt:lpstr>OVERVIEW</vt:lpstr>
      <vt:lpstr>BUSINESS UNDERSTANDING</vt:lpstr>
      <vt:lpstr>MIDDLE</vt:lpstr>
      <vt:lpstr>DATA UNDERSTANDING</vt:lpstr>
      <vt:lpstr>DATA ANALYSIS</vt:lpstr>
      <vt:lpstr>Plot A: Top 10 Makes with Lowest Average Fatal Per Record</vt:lpstr>
      <vt:lpstr>Plot B: Worst 10 Makes by proportion of Accidents with Fatalities</vt:lpstr>
      <vt:lpstr>Plot C: Average Fatal Injuries by Aircraft Category</vt:lpstr>
      <vt:lpstr>END</vt:lpstr>
      <vt:lpstr>Recommendation</vt:lpstr>
      <vt:lpstr>Next Steps</vt:lpstr>
      <vt:lpstr>Thank You! </vt:lpstr>
      <vt:lpstr>Financial overview</vt:lpstr>
      <vt:lpstr>Quarterly targets</vt:lpstr>
      <vt:lpstr>Financial snapshot</vt:lpstr>
      <vt:lpstr>Innovative solutions</vt:lpstr>
      <vt:lpstr>Future initiatives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Aviation Fleet Acquisition Risk Analysis</dc:title>
  <dc:creator>Naperian Consultants</dc:creator>
  <cp:lastModifiedBy>Naperian Consultants</cp:lastModifiedBy>
  <cp:revision>1</cp:revision>
  <dcterms:created xsi:type="dcterms:W3CDTF">2025-12-14T18:30:48Z</dcterms:created>
  <dcterms:modified xsi:type="dcterms:W3CDTF">2025-12-14T20:02:03Z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